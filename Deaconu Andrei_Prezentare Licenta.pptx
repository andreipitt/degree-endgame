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5" r:id="rId3"/>
  </p:sldMasterIdLst>
  <p:notesMasterIdLst>
    <p:notesMasterId r:id="rId28"/>
  </p:notesMasterIdLst>
  <p:sldIdLst>
    <p:sldId id="256" r:id="rId4"/>
    <p:sldId id="276" r:id="rId5"/>
    <p:sldId id="258" r:id="rId6"/>
    <p:sldId id="257" r:id="rId7"/>
    <p:sldId id="261" r:id="rId8"/>
    <p:sldId id="259" r:id="rId9"/>
    <p:sldId id="260" r:id="rId10"/>
    <p:sldId id="264" r:id="rId11"/>
    <p:sldId id="263" r:id="rId12"/>
    <p:sldId id="262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80" r:id="rId23"/>
    <p:sldId id="274" r:id="rId24"/>
    <p:sldId id="277" r:id="rId25"/>
    <p:sldId id="278" r:id="rId26"/>
    <p:sldId id="279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6B4D1-DF52-4D7B-B0BC-D9EC6531F18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9A557-0F35-4245-9194-8F5D2F739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7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1242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1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3255120" y="-2760840"/>
            <a:ext cx="10039680" cy="6731280"/>
            <a:chOff x="-3255120" y="-2760840"/>
            <a:chExt cx="10039680" cy="673128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3255120" y="-2760840"/>
              <a:ext cx="6563880" cy="6731280"/>
              <a:chOff x="-3255120" y="-2760840"/>
              <a:chExt cx="6563880" cy="6731280"/>
            </a:xfrm>
          </p:grpSpPr>
          <p:sp>
            <p:nvSpPr>
              <p:cNvPr id="4" name="Google Shape;11;p2"/>
              <p:cNvSpPr/>
              <p:nvPr/>
            </p:nvSpPr>
            <p:spPr>
              <a:xfrm rot="10221600">
                <a:off x="-1132920" y="-721440"/>
                <a:ext cx="3045240" cy="2637000"/>
              </a:xfrm>
              <a:custGeom>
                <a:avLst/>
                <a:gdLst>
                  <a:gd name="textAreaLeft" fmla="*/ 0 w 3045240"/>
                  <a:gd name="textAreaRight" fmla="*/ 3045600 w 3045240"/>
                  <a:gd name="textAreaTop" fmla="*/ 0 h 2637000"/>
                  <a:gd name="textAreaBottom" fmla="*/ 2637360 h 263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pic>
            <p:nvPicPr>
              <p:cNvPr id="5" name="Google Shape;12;p2"/>
              <p:cNvPicPr/>
              <p:nvPr/>
            </p:nvPicPr>
            <p:blipFill>
              <a:blip r:embed="rId3"/>
              <a:srcRect t="17653" b="17662"/>
              <a:stretch/>
            </p:blipFill>
            <p:spPr>
              <a:xfrm rot="13821600">
                <a:off x="-2650680" y="-1438560"/>
                <a:ext cx="5355360" cy="4087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6" name="Google Shape;13;p2"/>
            <p:cNvSpPr/>
            <p:nvPr/>
          </p:nvSpPr>
          <p:spPr>
            <a:xfrm>
              <a:off x="-441720" y="-339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rot="2700000">
              <a:off x="765720" y="-237348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-353880" y="-534240"/>
              <a:ext cx="7138440" cy="819000"/>
            </a:xfrm>
            <a:custGeom>
              <a:avLst/>
              <a:gdLst>
                <a:gd name="textAreaLeft" fmla="*/ 0 w 7138440"/>
                <a:gd name="textAreaRight" fmla="*/ 7138800 w 7138440"/>
                <a:gd name="textAreaTop" fmla="*/ 0 h 819000"/>
                <a:gd name="textAreaBottom" fmla="*/ 819360 h 81900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rot="5400000">
              <a:off x="958680" y="-1418760"/>
              <a:ext cx="577080" cy="3045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3045240"/>
                <a:gd name="textAreaBottom" fmla="*/ 3045600 h 3045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5400000">
              <a:off x="502200" y="-954360"/>
              <a:ext cx="686880" cy="27309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730960"/>
                <a:gd name="textAreaBottom" fmla="*/ 2731320 h 27309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" name="Google Shape;18;p2"/>
            <p:cNvGrpSpPr/>
            <p:nvPr/>
          </p:nvGrpSpPr>
          <p:grpSpPr>
            <a:xfrm>
              <a:off x="4294080" y="218160"/>
              <a:ext cx="133560" cy="133560"/>
              <a:chOff x="4294080" y="218160"/>
              <a:chExt cx="133560" cy="133560"/>
            </a:xfrm>
          </p:grpSpPr>
          <p:sp>
            <p:nvSpPr>
              <p:cNvPr id="12" name="Google Shape;19;p2"/>
              <p:cNvSpPr/>
              <p:nvPr/>
            </p:nvSpPr>
            <p:spPr>
              <a:xfrm flipH="1">
                <a:off x="4293720" y="21816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0;p2"/>
              <p:cNvSpPr/>
              <p:nvPr/>
            </p:nvSpPr>
            <p:spPr>
              <a:xfrm flipH="1">
                <a:off x="4321440" y="24876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" name="Google Shape;21;p2"/>
            <p:cNvGrpSpPr/>
            <p:nvPr/>
          </p:nvGrpSpPr>
          <p:grpSpPr>
            <a:xfrm>
              <a:off x="1220760" y="521640"/>
              <a:ext cx="133560" cy="133560"/>
              <a:chOff x="1220760" y="521640"/>
              <a:chExt cx="133560" cy="133560"/>
            </a:xfrm>
          </p:grpSpPr>
          <p:sp>
            <p:nvSpPr>
              <p:cNvPr id="15" name="Google Shape;22;p2"/>
              <p:cNvSpPr/>
              <p:nvPr/>
            </p:nvSpPr>
            <p:spPr>
              <a:xfrm flipH="1">
                <a:off x="1220400" y="521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3;p2"/>
              <p:cNvSpPr/>
              <p:nvPr/>
            </p:nvSpPr>
            <p:spPr>
              <a:xfrm flipH="1">
                <a:off x="1248120" y="55188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" name="Google Shape;24;p2"/>
            <p:cNvGrpSpPr/>
            <p:nvPr/>
          </p:nvGrpSpPr>
          <p:grpSpPr>
            <a:xfrm>
              <a:off x="934200" y="784440"/>
              <a:ext cx="133560" cy="133560"/>
              <a:chOff x="934200" y="784440"/>
              <a:chExt cx="133560" cy="133560"/>
            </a:xfrm>
          </p:grpSpPr>
          <p:sp>
            <p:nvSpPr>
              <p:cNvPr id="18" name="Google Shape;25;p2"/>
              <p:cNvSpPr/>
              <p:nvPr/>
            </p:nvSpPr>
            <p:spPr>
              <a:xfrm flipH="1">
                <a:off x="93384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26;p2"/>
              <p:cNvSpPr/>
              <p:nvPr/>
            </p:nvSpPr>
            <p:spPr>
              <a:xfrm flipH="1">
                <a:off x="96120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" name="Google Shape;27;p2"/>
            <p:cNvGrpSpPr/>
            <p:nvPr/>
          </p:nvGrpSpPr>
          <p:grpSpPr>
            <a:xfrm>
              <a:off x="124920" y="784440"/>
              <a:ext cx="133560" cy="133560"/>
              <a:chOff x="124920" y="784440"/>
              <a:chExt cx="133560" cy="133560"/>
            </a:xfrm>
          </p:grpSpPr>
          <p:sp>
            <p:nvSpPr>
              <p:cNvPr id="21" name="Google Shape;28;p2"/>
              <p:cNvSpPr/>
              <p:nvPr/>
            </p:nvSpPr>
            <p:spPr>
              <a:xfrm flipH="1">
                <a:off x="12456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29;p2"/>
              <p:cNvSpPr/>
              <p:nvPr/>
            </p:nvSpPr>
            <p:spPr>
              <a:xfrm flipH="1">
                <a:off x="15228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" name="Google Shape;30;p2"/>
            <p:cNvGrpSpPr/>
            <p:nvPr/>
          </p:nvGrpSpPr>
          <p:grpSpPr>
            <a:xfrm>
              <a:off x="124920" y="467640"/>
              <a:ext cx="133560" cy="133560"/>
              <a:chOff x="124920" y="467640"/>
              <a:chExt cx="133560" cy="133560"/>
            </a:xfrm>
          </p:grpSpPr>
          <p:sp>
            <p:nvSpPr>
              <p:cNvPr id="24" name="Google Shape;31;p2"/>
              <p:cNvSpPr/>
              <p:nvPr/>
            </p:nvSpPr>
            <p:spPr>
              <a:xfrm flipH="1">
                <a:off x="124560" y="467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32;p2"/>
              <p:cNvSpPr/>
              <p:nvPr/>
            </p:nvSpPr>
            <p:spPr>
              <a:xfrm flipH="1">
                <a:off x="152280" y="4982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" name="Google Shape;33;p2"/>
          <p:cNvGrpSpPr/>
          <p:nvPr/>
        </p:nvGrpSpPr>
        <p:grpSpPr>
          <a:xfrm>
            <a:off x="6385680" y="3039840"/>
            <a:ext cx="3920040" cy="3213360"/>
            <a:chOff x="6385680" y="3039840"/>
            <a:chExt cx="3920040" cy="3213360"/>
          </a:xfrm>
        </p:grpSpPr>
        <p:pic>
          <p:nvPicPr>
            <p:cNvPr id="27" name="Google Shape;34;p2"/>
            <p:cNvPicPr/>
            <p:nvPr/>
          </p:nvPicPr>
          <p:blipFill>
            <a:blip r:embed="rId4"/>
            <a:srcRect l="16959" t="24713" r="7122" b="26173"/>
            <a:stretch/>
          </p:blipFill>
          <p:spPr>
            <a:xfrm>
              <a:off x="6385680" y="326124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" name="Google Shape;35;p2"/>
            <p:cNvSpPr/>
            <p:nvPr/>
          </p:nvSpPr>
          <p:spPr>
            <a:xfrm rot="10800000">
              <a:off x="7612200" y="3138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 rot="10800000">
              <a:off x="7771320" y="31388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" name="Google Shape;37;p2"/>
            <p:cNvGrpSpPr/>
            <p:nvPr/>
          </p:nvGrpSpPr>
          <p:grpSpPr>
            <a:xfrm>
              <a:off x="7356600" y="3916440"/>
              <a:ext cx="581760" cy="582120"/>
              <a:chOff x="7356600" y="3916440"/>
              <a:chExt cx="581760" cy="582120"/>
            </a:xfrm>
          </p:grpSpPr>
          <p:sp>
            <p:nvSpPr>
              <p:cNvPr id="31" name="Google Shape;38;p2"/>
              <p:cNvSpPr/>
              <p:nvPr/>
            </p:nvSpPr>
            <p:spPr>
              <a:xfrm>
                <a:off x="7356600" y="43754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39;p2"/>
              <p:cNvSpPr/>
              <p:nvPr/>
            </p:nvSpPr>
            <p:spPr>
              <a:xfrm>
                <a:off x="7432920" y="42987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40;p2"/>
              <p:cNvSpPr/>
              <p:nvPr/>
            </p:nvSpPr>
            <p:spPr>
              <a:xfrm>
                <a:off x="7509240" y="42224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41;p2"/>
              <p:cNvSpPr/>
              <p:nvPr/>
            </p:nvSpPr>
            <p:spPr>
              <a:xfrm>
                <a:off x="7585560" y="4146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42;p2"/>
              <p:cNvSpPr/>
              <p:nvPr/>
            </p:nvSpPr>
            <p:spPr>
              <a:xfrm>
                <a:off x="7662600" y="40698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43;p2"/>
              <p:cNvSpPr/>
              <p:nvPr/>
            </p:nvSpPr>
            <p:spPr>
              <a:xfrm>
                <a:off x="7738560" y="3993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44;p2"/>
              <p:cNvSpPr/>
              <p:nvPr/>
            </p:nvSpPr>
            <p:spPr>
              <a:xfrm>
                <a:off x="7815240" y="39164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8" name="Google Shape;45;p2"/>
            <p:cNvSpPr/>
            <p:nvPr/>
          </p:nvSpPr>
          <p:spPr>
            <a:xfrm>
              <a:off x="8506800" y="303984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" name="Google Shape;46;p2"/>
            <p:cNvGrpSpPr/>
            <p:nvPr/>
          </p:nvGrpSpPr>
          <p:grpSpPr>
            <a:xfrm>
              <a:off x="8413920" y="3689280"/>
              <a:ext cx="699840" cy="1650600"/>
              <a:chOff x="8413920" y="3689280"/>
              <a:chExt cx="699840" cy="1650600"/>
            </a:xfrm>
          </p:grpSpPr>
          <p:sp>
            <p:nvSpPr>
              <p:cNvPr id="40" name="Google Shape;47;p2"/>
              <p:cNvSpPr/>
              <p:nvPr/>
            </p:nvSpPr>
            <p:spPr>
              <a:xfrm>
                <a:off x="8413920" y="36892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48;p2"/>
              <p:cNvSpPr/>
              <p:nvPr/>
            </p:nvSpPr>
            <p:spPr>
              <a:xfrm>
                <a:off x="8774640" y="411336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49;p2"/>
              <p:cNvSpPr/>
              <p:nvPr/>
            </p:nvSpPr>
            <p:spPr>
              <a:xfrm>
                <a:off x="8867160" y="40204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" name="Google Shape;50;p2"/>
            <p:cNvGrpSpPr/>
            <p:nvPr/>
          </p:nvGrpSpPr>
          <p:grpSpPr>
            <a:xfrm>
              <a:off x="8021520" y="4498560"/>
              <a:ext cx="904320" cy="725760"/>
              <a:chOff x="8021520" y="4498560"/>
              <a:chExt cx="904320" cy="725760"/>
            </a:xfrm>
          </p:grpSpPr>
          <p:sp>
            <p:nvSpPr>
              <p:cNvPr id="44" name="Google Shape;51;p2"/>
              <p:cNvSpPr/>
              <p:nvPr/>
            </p:nvSpPr>
            <p:spPr>
              <a:xfrm>
                <a:off x="8253000" y="46418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52;p2"/>
              <p:cNvSpPr/>
              <p:nvPr/>
            </p:nvSpPr>
            <p:spPr>
              <a:xfrm>
                <a:off x="8240400" y="4498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3;p2"/>
              <p:cNvSpPr/>
              <p:nvPr/>
            </p:nvSpPr>
            <p:spPr>
              <a:xfrm>
                <a:off x="8021520" y="46418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96920" y="816480"/>
            <a:ext cx="6974280" cy="232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8" name="Google Shape;56;p2"/>
          <p:cNvGrpSpPr/>
          <p:nvPr/>
        </p:nvGrpSpPr>
        <p:grpSpPr>
          <a:xfrm>
            <a:off x="-309600" y="3618000"/>
            <a:ext cx="1447920" cy="2238120"/>
            <a:chOff x="-309600" y="3618000"/>
            <a:chExt cx="1447920" cy="2238120"/>
          </a:xfrm>
        </p:grpSpPr>
        <p:grpSp>
          <p:nvGrpSpPr>
            <p:cNvPr id="49" name="Google Shape;57;p2"/>
            <p:cNvGrpSpPr/>
            <p:nvPr/>
          </p:nvGrpSpPr>
          <p:grpSpPr>
            <a:xfrm>
              <a:off x="-276480" y="3870720"/>
              <a:ext cx="981360" cy="1985400"/>
              <a:chOff x="-276480" y="3870720"/>
              <a:chExt cx="981360" cy="1985400"/>
            </a:xfrm>
          </p:grpSpPr>
          <p:sp>
            <p:nvSpPr>
              <p:cNvPr id="50" name="Google Shape;58;p2"/>
              <p:cNvSpPr/>
              <p:nvPr/>
            </p:nvSpPr>
            <p:spPr>
              <a:xfrm rot="10800000">
                <a:off x="-276120" y="387072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59;p2"/>
              <p:cNvSpPr/>
              <p:nvPr/>
            </p:nvSpPr>
            <p:spPr>
              <a:xfrm rot="10800000">
                <a:off x="-138960" y="387108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" name="Google Shape;60;p2"/>
            <p:cNvGrpSpPr/>
            <p:nvPr/>
          </p:nvGrpSpPr>
          <p:grpSpPr>
            <a:xfrm>
              <a:off x="363240" y="4906800"/>
              <a:ext cx="699120" cy="478080"/>
              <a:chOff x="363240" y="4906800"/>
              <a:chExt cx="699120" cy="478080"/>
            </a:xfrm>
          </p:grpSpPr>
          <p:grpSp>
            <p:nvGrpSpPr>
              <p:cNvPr id="53" name="Google Shape;61;p2"/>
              <p:cNvGrpSpPr/>
              <p:nvPr/>
            </p:nvGrpSpPr>
            <p:grpSpPr>
              <a:xfrm>
                <a:off x="363240" y="4906800"/>
                <a:ext cx="478080" cy="478080"/>
                <a:chOff x="363240" y="4906800"/>
                <a:chExt cx="478080" cy="478080"/>
              </a:xfrm>
            </p:grpSpPr>
            <p:sp>
              <p:nvSpPr>
                <p:cNvPr id="54" name="Google Shape;62;p2"/>
                <p:cNvSpPr/>
                <p:nvPr/>
              </p:nvSpPr>
              <p:spPr>
                <a:xfrm rot="2700000">
                  <a:off x="429480" y="498024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" name="Google Shape;63;p2"/>
                <p:cNvGrpSpPr/>
                <p:nvPr/>
              </p:nvGrpSpPr>
              <p:grpSpPr>
                <a:xfrm>
                  <a:off x="408240" y="5007600"/>
                  <a:ext cx="387360" cy="223200"/>
                  <a:chOff x="408240" y="5007600"/>
                  <a:chExt cx="387360" cy="223200"/>
                </a:xfrm>
              </p:grpSpPr>
              <p:sp>
                <p:nvSpPr>
                  <p:cNvPr id="56" name="Google Shape;64;p2"/>
                  <p:cNvSpPr/>
                  <p:nvPr/>
                </p:nvSpPr>
                <p:spPr>
                  <a:xfrm rot="2700000">
                    <a:off x="44100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" name="Google Shape;65;p2"/>
                  <p:cNvSpPr/>
                  <p:nvPr/>
                </p:nvSpPr>
                <p:spPr>
                  <a:xfrm rot="2700000">
                    <a:off x="48204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" name="Google Shape;66;p2"/>
                  <p:cNvSpPr/>
                  <p:nvPr/>
                </p:nvSpPr>
                <p:spPr>
                  <a:xfrm rot="2700000">
                    <a:off x="52308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" name="Google Shape;67;p2"/>
                  <p:cNvSpPr/>
                  <p:nvPr/>
                </p:nvSpPr>
                <p:spPr>
                  <a:xfrm rot="2700000">
                    <a:off x="56412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" name="Google Shape;68;p2"/>
                  <p:cNvSpPr/>
                  <p:nvPr/>
                </p:nvSpPr>
                <p:spPr>
                  <a:xfrm rot="2700000">
                    <a:off x="60516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1" name="Google Shape;69;p2"/>
              <p:cNvSpPr/>
              <p:nvPr/>
            </p:nvSpPr>
            <p:spPr>
              <a:xfrm rot="18900000">
                <a:off x="694440" y="4986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2" name="Google Shape;70;p2"/>
            <p:cNvGrpSpPr/>
            <p:nvPr/>
          </p:nvGrpSpPr>
          <p:grpSpPr>
            <a:xfrm>
              <a:off x="-309600" y="3618000"/>
              <a:ext cx="1047240" cy="1350720"/>
              <a:chOff x="-309600" y="3618000"/>
              <a:chExt cx="1047240" cy="1350720"/>
            </a:xfrm>
          </p:grpSpPr>
          <p:sp>
            <p:nvSpPr>
              <p:cNvPr id="63" name="Google Shape;71;p2"/>
              <p:cNvSpPr/>
              <p:nvPr/>
            </p:nvSpPr>
            <p:spPr>
              <a:xfrm rot="13500000">
                <a:off x="37080" y="427140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72;p2"/>
              <p:cNvSpPr/>
              <p:nvPr/>
            </p:nvSpPr>
            <p:spPr>
              <a:xfrm rot="13500000">
                <a:off x="-38880" y="40870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73;p2"/>
              <p:cNvSpPr/>
              <p:nvPr/>
            </p:nvSpPr>
            <p:spPr>
              <a:xfrm rot="13500000">
                <a:off x="-115200" y="39232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74;p2"/>
              <p:cNvSpPr/>
              <p:nvPr/>
            </p:nvSpPr>
            <p:spPr>
              <a:xfrm rot="13500000">
                <a:off x="-191160" y="3738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" name="Google Shape;75;p2"/>
            <p:cNvGrpSpPr/>
            <p:nvPr/>
          </p:nvGrpSpPr>
          <p:grpSpPr>
            <a:xfrm>
              <a:off x="439200" y="4567320"/>
              <a:ext cx="699120" cy="478080"/>
              <a:chOff x="439200" y="4567320"/>
              <a:chExt cx="699120" cy="478080"/>
            </a:xfrm>
          </p:grpSpPr>
          <p:grpSp>
            <p:nvGrpSpPr>
              <p:cNvPr id="68" name="Google Shape;76;p2"/>
              <p:cNvGrpSpPr/>
              <p:nvPr/>
            </p:nvGrpSpPr>
            <p:grpSpPr>
              <a:xfrm>
                <a:off x="439200" y="4567320"/>
                <a:ext cx="478080" cy="478080"/>
                <a:chOff x="439200" y="4567320"/>
                <a:chExt cx="478080" cy="478080"/>
              </a:xfrm>
            </p:grpSpPr>
            <p:sp>
              <p:nvSpPr>
                <p:cNvPr id="69" name="Google Shape;77;p2"/>
                <p:cNvSpPr/>
                <p:nvPr/>
              </p:nvSpPr>
              <p:spPr>
                <a:xfrm rot="2700000">
                  <a:off x="505440" y="46407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70" name="Google Shape;78;p2"/>
                <p:cNvGrpSpPr/>
                <p:nvPr/>
              </p:nvGrpSpPr>
              <p:grpSpPr>
                <a:xfrm>
                  <a:off x="483840" y="4668120"/>
                  <a:ext cx="387360" cy="223200"/>
                  <a:chOff x="483840" y="4668120"/>
                  <a:chExt cx="387360" cy="223200"/>
                </a:xfrm>
              </p:grpSpPr>
              <p:sp>
                <p:nvSpPr>
                  <p:cNvPr id="71" name="Google Shape;79;p2"/>
                  <p:cNvSpPr/>
                  <p:nvPr/>
                </p:nvSpPr>
                <p:spPr>
                  <a:xfrm rot="2700000">
                    <a:off x="51660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2" name="Google Shape;80;p2"/>
                  <p:cNvSpPr/>
                  <p:nvPr/>
                </p:nvSpPr>
                <p:spPr>
                  <a:xfrm rot="2700000">
                    <a:off x="55764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3" name="Google Shape;81;p2"/>
                  <p:cNvSpPr/>
                  <p:nvPr/>
                </p:nvSpPr>
                <p:spPr>
                  <a:xfrm rot="2700000">
                    <a:off x="59904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4" name="Google Shape;82;p2"/>
                  <p:cNvSpPr/>
                  <p:nvPr/>
                </p:nvSpPr>
                <p:spPr>
                  <a:xfrm rot="2700000">
                    <a:off x="63972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" name="Google Shape;83;p2"/>
                  <p:cNvSpPr/>
                  <p:nvPr/>
                </p:nvSpPr>
                <p:spPr>
                  <a:xfrm rot="2700000">
                    <a:off x="68076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76" name="Google Shape;84;p2"/>
              <p:cNvSpPr/>
              <p:nvPr/>
            </p:nvSpPr>
            <p:spPr>
              <a:xfrm rot="18900000">
                <a:off x="770400" y="464652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" name="Google Shape;85;p2"/>
            <p:cNvGrpSpPr/>
            <p:nvPr/>
          </p:nvGrpSpPr>
          <p:grpSpPr>
            <a:xfrm>
              <a:off x="-64800" y="4623840"/>
              <a:ext cx="698760" cy="478080"/>
              <a:chOff x="-64800" y="4623840"/>
              <a:chExt cx="698760" cy="478080"/>
            </a:xfrm>
          </p:grpSpPr>
          <p:grpSp>
            <p:nvGrpSpPr>
              <p:cNvPr id="78" name="Google Shape;86;p2"/>
              <p:cNvGrpSpPr/>
              <p:nvPr/>
            </p:nvGrpSpPr>
            <p:grpSpPr>
              <a:xfrm>
                <a:off x="-64800" y="4623840"/>
                <a:ext cx="478080" cy="478080"/>
                <a:chOff x="-64800" y="4623840"/>
                <a:chExt cx="478080" cy="478080"/>
              </a:xfrm>
            </p:grpSpPr>
            <p:sp>
              <p:nvSpPr>
                <p:cNvPr id="79" name="Google Shape;87;p2"/>
                <p:cNvSpPr/>
                <p:nvPr/>
              </p:nvSpPr>
              <p:spPr>
                <a:xfrm rot="2700000">
                  <a:off x="1440" y="46972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0" name="Google Shape;88;p2"/>
                <p:cNvGrpSpPr/>
                <p:nvPr/>
              </p:nvGrpSpPr>
              <p:grpSpPr>
                <a:xfrm>
                  <a:off x="-20160" y="4724640"/>
                  <a:ext cx="387360" cy="223200"/>
                  <a:chOff x="-20160" y="4724640"/>
                  <a:chExt cx="387360" cy="223200"/>
                </a:xfrm>
              </p:grpSpPr>
              <p:sp>
                <p:nvSpPr>
                  <p:cNvPr id="81" name="Google Shape;89;p2"/>
                  <p:cNvSpPr/>
                  <p:nvPr/>
                </p:nvSpPr>
                <p:spPr>
                  <a:xfrm rot="2700000">
                    <a:off x="1224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" name="Google Shape;90;p2"/>
                  <p:cNvSpPr/>
                  <p:nvPr/>
                </p:nvSpPr>
                <p:spPr>
                  <a:xfrm rot="2700000">
                    <a:off x="5328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" name="Google Shape;91;p2"/>
                  <p:cNvSpPr/>
                  <p:nvPr/>
                </p:nvSpPr>
                <p:spPr>
                  <a:xfrm rot="2700000">
                    <a:off x="9432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" name="Google Shape;92;p2"/>
                  <p:cNvSpPr/>
                  <p:nvPr/>
                </p:nvSpPr>
                <p:spPr>
                  <a:xfrm rot="2700000">
                    <a:off x="13536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" name="Google Shape;93;p2"/>
                  <p:cNvSpPr/>
                  <p:nvPr/>
                </p:nvSpPr>
                <p:spPr>
                  <a:xfrm rot="2700000">
                    <a:off x="17640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6" name="Google Shape;94;p2"/>
              <p:cNvSpPr/>
              <p:nvPr/>
            </p:nvSpPr>
            <p:spPr>
              <a:xfrm rot="18900000">
                <a:off x="266040" y="470304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1" name="Google Shape;763;p19"/>
          <p:cNvGrpSpPr/>
          <p:nvPr/>
        </p:nvGrpSpPr>
        <p:grpSpPr>
          <a:xfrm>
            <a:off x="-96120" y="4888440"/>
            <a:ext cx="1590120" cy="87840"/>
            <a:chOff x="-96120" y="4888440"/>
            <a:chExt cx="1590120" cy="87840"/>
          </a:xfrm>
        </p:grpSpPr>
        <p:sp>
          <p:nvSpPr>
            <p:cNvPr id="92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" name="Google Shape;766;p19"/>
          <p:cNvGrpSpPr/>
          <p:nvPr/>
        </p:nvGrpSpPr>
        <p:grpSpPr>
          <a:xfrm>
            <a:off x="6883560" y="1385640"/>
            <a:ext cx="4028040" cy="5283360"/>
            <a:chOff x="6883560" y="1385640"/>
            <a:chExt cx="4028040" cy="5283360"/>
          </a:xfrm>
        </p:grpSpPr>
        <p:sp>
          <p:nvSpPr>
            <p:cNvPr id="95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9" name="Google Shape;771;p19"/>
          <p:cNvGrpSpPr/>
          <p:nvPr/>
        </p:nvGrpSpPr>
        <p:grpSpPr>
          <a:xfrm>
            <a:off x="4597920" y="-1699200"/>
            <a:ext cx="5579640" cy="3202920"/>
            <a:chOff x="4597920" y="-1699200"/>
            <a:chExt cx="5579640" cy="3202920"/>
          </a:xfrm>
        </p:grpSpPr>
        <p:grpSp>
          <p:nvGrpSpPr>
            <p:cNvPr id="100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101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104" name="Google Shape;776;p19"/>
            <p:cNvPicPr/>
            <p:nvPr/>
          </p:nvPicPr>
          <p:blipFill>
            <a:blip r:embed="rId4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5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7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108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111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8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119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77036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88" name="Google Shape;143;p4"/>
          <p:cNvGrpSpPr/>
          <p:nvPr/>
        </p:nvGrpSpPr>
        <p:grpSpPr>
          <a:xfrm>
            <a:off x="7365240" y="-1147680"/>
            <a:ext cx="3732840" cy="6536520"/>
            <a:chOff x="7365240" y="-1147680"/>
            <a:chExt cx="3732840" cy="6536520"/>
          </a:xfrm>
        </p:grpSpPr>
        <p:pic>
          <p:nvPicPr>
            <p:cNvPr id="189" name="Google Shape;144;p4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7365240" y="-1147680"/>
              <a:ext cx="3732840" cy="284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90" name="Google Shape;145;p4"/>
            <p:cNvGrpSpPr/>
            <p:nvPr/>
          </p:nvGrpSpPr>
          <p:grpSpPr>
            <a:xfrm>
              <a:off x="7544880" y="540000"/>
              <a:ext cx="1518120" cy="3030120"/>
              <a:chOff x="7544880" y="540000"/>
              <a:chExt cx="1518120" cy="3030120"/>
            </a:xfrm>
          </p:grpSpPr>
          <p:sp>
            <p:nvSpPr>
              <p:cNvPr id="191" name="Google Shape;146;p4"/>
              <p:cNvSpPr/>
              <p:nvPr/>
            </p:nvSpPr>
            <p:spPr>
              <a:xfrm rot="10800000">
                <a:off x="7642440" y="73728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147;p4"/>
              <p:cNvSpPr/>
              <p:nvPr/>
            </p:nvSpPr>
            <p:spPr>
              <a:xfrm rot="10800000">
                <a:off x="7544880" y="54000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93" name="Google Shape;148;p4"/>
            <p:cNvSpPr/>
            <p:nvPr/>
          </p:nvSpPr>
          <p:spPr>
            <a:xfrm rot="5400000">
              <a:off x="8250840" y="-8769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4" name="Google Shape;149;p4"/>
            <p:cNvGrpSpPr/>
            <p:nvPr/>
          </p:nvGrpSpPr>
          <p:grpSpPr>
            <a:xfrm>
              <a:off x="7893360" y="270000"/>
              <a:ext cx="3152880" cy="5118840"/>
              <a:chOff x="7893360" y="270000"/>
              <a:chExt cx="3152880" cy="5118840"/>
            </a:xfrm>
          </p:grpSpPr>
          <p:sp>
            <p:nvSpPr>
              <p:cNvPr id="195" name="Google Shape;150;p4"/>
              <p:cNvSpPr/>
              <p:nvPr/>
            </p:nvSpPr>
            <p:spPr>
              <a:xfrm>
                <a:off x="7893360" y="27000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96" name="Google Shape;151;p4"/>
              <p:cNvGrpSpPr/>
              <p:nvPr/>
            </p:nvGrpSpPr>
            <p:grpSpPr>
              <a:xfrm>
                <a:off x="8345160" y="4736520"/>
                <a:ext cx="133560" cy="133560"/>
                <a:chOff x="8345160" y="4736520"/>
                <a:chExt cx="133560" cy="133560"/>
              </a:xfrm>
            </p:grpSpPr>
            <p:sp>
              <p:nvSpPr>
                <p:cNvPr id="197" name="Google Shape;152;p4"/>
                <p:cNvSpPr/>
                <p:nvPr/>
              </p:nvSpPr>
              <p:spPr>
                <a:xfrm>
                  <a:off x="8345160" y="47365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" name="Google Shape;153;p4"/>
                <p:cNvSpPr/>
                <p:nvPr/>
              </p:nvSpPr>
              <p:spPr>
                <a:xfrm>
                  <a:off x="8364240" y="47552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99" name="Google Shape;154;p4"/>
              <p:cNvGrpSpPr/>
              <p:nvPr/>
            </p:nvGrpSpPr>
            <p:grpSpPr>
              <a:xfrm>
                <a:off x="8940600" y="3794760"/>
                <a:ext cx="133560" cy="133560"/>
                <a:chOff x="8940600" y="3794760"/>
                <a:chExt cx="133560" cy="133560"/>
              </a:xfrm>
            </p:grpSpPr>
            <p:sp>
              <p:nvSpPr>
                <p:cNvPr id="200" name="Google Shape;155;p4"/>
                <p:cNvSpPr/>
                <p:nvPr/>
              </p:nvSpPr>
              <p:spPr>
                <a:xfrm>
                  <a:off x="8940600" y="3794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" name="Google Shape;156;p4"/>
                <p:cNvSpPr/>
                <p:nvPr/>
              </p:nvSpPr>
              <p:spPr>
                <a:xfrm>
                  <a:off x="8959680" y="38134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2" name="Google Shape;157;p4"/>
              <p:cNvGrpSpPr/>
              <p:nvPr/>
            </p:nvGrpSpPr>
            <p:grpSpPr>
              <a:xfrm>
                <a:off x="8806680" y="2424600"/>
                <a:ext cx="133560" cy="133560"/>
                <a:chOff x="8806680" y="2424600"/>
                <a:chExt cx="133560" cy="133560"/>
              </a:xfrm>
            </p:grpSpPr>
            <p:sp>
              <p:nvSpPr>
                <p:cNvPr id="203" name="Google Shape;158;p4"/>
                <p:cNvSpPr/>
                <p:nvPr/>
              </p:nvSpPr>
              <p:spPr>
                <a:xfrm>
                  <a:off x="8806680" y="2424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" name="Google Shape;159;p4"/>
                <p:cNvSpPr/>
                <p:nvPr/>
              </p:nvSpPr>
              <p:spPr>
                <a:xfrm>
                  <a:off x="8825400" y="2443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205" name="Google Shape;160;p4"/>
          <p:cNvGrpSpPr/>
          <p:nvPr/>
        </p:nvGrpSpPr>
        <p:grpSpPr>
          <a:xfrm>
            <a:off x="-575640" y="3774240"/>
            <a:ext cx="1954800" cy="2072160"/>
            <a:chOff x="-575640" y="3774240"/>
            <a:chExt cx="1954800" cy="2072160"/>
          </a:xfrm>
        </p:grpSpPr>
        <p:sp>
          <p:nvSpPr>
            <p:cNvPr id="206" name="Google Shape;161;p4"/>
            <p:cNvSpPr/>
            <p:nvPr/>
          </p:nvSpPr>
          <p:spPr>
            <a:xfrm rot="8271000">
              <a:off x="275400" y="361476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62;p4"/>
            <p:cNvSpPr/>
            <p:nvPr/>
          </p:nvSpPr>
          <p:spPr>
            <a:xfrm rot="8271000">
              <a:off x="131040" y="374544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8" name="Google Shape;163;p4"/>
          <p:cNvGrpSpPr/>
          <p:nvPr/>
        </p:nvGrpSpPr>
        <p:grpSpPr>
          <a:xfrm>
            <a:off x="-519840" y="-573120"/>
            <a:ext cx="1501560" cy="2806920"/>
            <a:chOff x="-519840" y="-573120"/>
            <a:chExt cx="1501560" cy="2806920"/>
          </a:xfrm>
        </p:grpSpPr>
        <p:grpSp>
          <p:nvGrpSpPr>
            <p:cNvPr id="209" name="Google Shape;164;p4"/>
            <p:cNvGrpSpPr/>
            <p:nvPr/>
          </p:nvGrpSpPr>
          <p:grpSpPr>
            <a:xfrm>
              <a:off x="-343440" y="1508040"/>
              <a:ext cx="904320" cy="725760"/>
              <a:chOff x="-343440" y="1508040"/>
              <a:chExt cx="904320" cy="725760"/>
            </a:xfrm>
          </p:grpSpPr>
          <p:sp>
            <p:nvSpPr>
              <p:cNvPr id="210" name="Google Shape;165;p4"/>
              <p:cNvSpPr/>
              <p:nvPr/>
            </p:nvSpPr>
            <p:spPr>
              <a:xfrm rot="10800000">
                <a:off x="-343440" y="15080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166;p4"/>
              <p:cNvSpPr/>
              <p:nvPr/>
            </p:nvSpPr>
            <p:spPr>
              <a:xfrm rot="10800000">
                <a:off x="-138960" y="18176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167;p4"/>
              <p:cNvSpPr/>
              <p:nvPr/>
            </p:nvSpPr>
            <p:spPr>
              <a:xfrm rot="10800000">
                <a:off x="80280" y="1674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13" name="Google Shape;168;p4"/>
            <p:cNvSpPr/>
            <p:nvPr/>
          </p:nvSpPr>
          <p:spPr>
            <a:xfrm>
              <a:off x="360" y="-57240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69;p4"/>
            <p:cNvSpPr/>
            <p:nvPr/>
          </p:nvSpPr>
          <p:spPr>
            <a:xfrm>
              <a:off x="-159120" y="-57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15" name="Google Shape;170;p4"/>
            <p:cNvGrpSpPr/>
            <p:nvPr/>
          </p:nvGrpSpPr>
          <p:grpSpPr>
            <a:xfrm>
              <a:off x="-519840" y="-466920"/>
              <a:ext cx="699480" cy="1650960"/>
              <a:chOff x="-519840" y="-466920"/>
              <a:chExt cx="699480" cy="1650960"/>
            </a:xfrm>
          </p:grpSpPr>
          <p:sp>
            <p:nvSpPr>
              <p:cNvPr id="216" name="Google Shape;171;p4"/>
              <p:cNvSpPr/>
              <p:nvPr/>
            </p:nvSpPr>
            <p:spPr>
              <a:xfrm rot="10800000">
                <a:off x="-302760" y="17064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172;p4"/>
              <p:cNvSpPr/>
              <p:nvPr/>
            </p:nvSpPr>
            <p:spPr>
              <a:xfrm rot="10800000">
                <a:off x="-426960" y="-4669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173;p4"/>
              <p:cNvSpPr/>
              <p:nvPr/>
            </p:nvSpPr>
            <p:spPr>
              <a:xfrm rot="10800000">
                <a:off x="-519480" y="-3736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ubTitle"/>
          </p:nvPr>
        </p:nvSpPr>
        <p:spPr>
          <a:xfrm>
            <a:off x="1095480" y="3457440"/>
            <a:ext cx="48859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Student: </a:t>
            </a:r>
            <a:r>
              <a:rPr lang="en-US" sz="15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Deaconu</a:t>
            </a:r>
            <a:r>
              <a:rPr lang="en-US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Andrei</a:t>
            </a:r>
            <a:br>
              <a:rPr lang="en-US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5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Coordonatori</a:t>
            </a:r>
            <a:r>
              <a:rPr lang="en-US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r>
              <a:rPr lang="en-US" sz="15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n-US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15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Mischie</a:t>
            </a:r>
            <a:r>
              <a:rPr lang="en-US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5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Septimiu</a:t>
            </a:r>
            <a:r>
              <a:rPr lang="ro-RO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15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o-RO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     </a:t>
            </a:r>
            <a:r>
              <a:rPr lang="en-US" sz="15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n-US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15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Chiș</a:t>
            </a:r>
            <a:r>
              <a:rPr lang="en-US" sz="15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Marcel (Hella Romania)</a:t>
            </a:r>
          </a:p>
        </p:txBody>
      </p:sp>
      <p:sp>
        <p:nvSpPr>
          <p:cNvPr id="222" name="PlaceHolder 2"/>
          <p:cNvSpPr>
            <a:spLocks noGrp="1"/>
          </p:cNvSpPr>
          <p:nvPr>
            <p:ph type="title"/>
          </p:nvPr>
        </p:nvSpPr>
        <p:spPr>
          <a:xfrm>
            <a:off x="1567159" y="353880"/>
            <a:ext cx="5333895" cy="166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5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Lucrare</a:t>
            </a:r>
            <a:r>
              <a:rPr lang="en-US" sz="4500" b="1" u="none" strike="noStrike" dirty="0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 de </a:t>
            </a:r>
            <a:r>
              <a:rPr lang="en-US" sz="45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licent</a:t>
            </a:r>
            <a:r>
              <a:rPr lang="ro-RO" sz="4500" b="1" u="none" strike="noStrike" dirty="0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ă</a:t>
            </a:r>
            <a:endParaRPr lang="fr-FR" sz="4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23" name="Google Shape;1432;p35"/>
          <p:cNvGrpSpPr/>
          <p:nvPr/>
        </p:nvGrpSpPr>
        <p:grpSpPr>
          <a:xfrm>
            <a:off x="1096560" y="3242880"/>
            <a:ext cx="3936600" cy="133560"/>
            <a:chOff x="1096560" y="3242880"/>
            <a:chExt cx="3936600" cy="133560"/>
          </a:xfrm>
        </p:grpSpPr>
        <p:cxnSp>
          <p:nvCxnSpPr>
            <p:cNvPr id="224" name="Google Shape;1433;p35"/>
            <p:cNvCxnSpPr/>
            <p:nvPr/>
          </p:nvCxnSpPr>
          <p:spPr>
            <a:xfrm>
              <a:off x="1096560" y="3309840"/>
              <a:ext cx="384120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grpSp>
          <p:nvGrpSpPr>
            <p:cNvPr id="225" name="Google Shape;1434;p35"/>
            <p:cNvGrpSpPr/>
            <p:nvPr/>
          </p:nvGrpSpPr>
          <p:grpSpPr>
            <a:xfrm>
              <a:off x="4899600" y="3242880"/>
              <a:ext cx="133560" cy="133560"/>
              <a:chOff x="4899600" y="3242880"/>
              <a:chExt cx="133560" cy="133560"/>
            </a:xfrm>
          </p:grpSpPr>
          <p:sp>
            <p:nvSpPr>
              <p:cNvPr id="226" name="Google Shape;1435;p35"/>
              <p:cNvSpPr/>
              <p:nvPr/>
            </p:nvSpPr>
            <p:spPr>
              <a:xfrm>
                <a:off x="4929480" y="3273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7" name="Google Shape;1436;p35"/>
              <p:cNvSpPr/>
              <p:nvPr/>
            </p:nvSpPr>
            <p:spPr>
              <a:xfrm>
                <a:off x="4899600" y="3242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28" name="Google Shape;1437;p35"/>
          <p:cNvGrpSpPr/>
          <p:nvPr/>
        </p:nvGrpSpPr>
        <p:grpSpPr>
          <a:xfrm>
            <a:off x="8017920" y="-313560"/>
            <a:ext cx="133560" cy="1890360"/>
            <a:chOff x="8017920" y="-313560"/>
            <a:chExt cx="133560" cy="1890360"/>
          </a:xfrm>
        </p:grpSpPr>
        <p:sp>
          <p:nvSpPr>
            <p:cNvPr id="229" name="Google Shape;1438;p35"/>
            <p:cNvSpPr/>
            <p:nvPr/>
          </p:nvSpPr>
          <p:spPr>
            <a:xfrm rot="5400000">
              <a:off x="8017920" y="14432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160" bIns="47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30" name="Google Shape;1439;p35"/>
            <p:cNvCxnSpPr/>
            <p:nvPr/>
          </p:nvCxnSpPr>
          <p:spPr>
            <a:xfrm>
              <a:off x="8084160" y="-313560"/>
              <a:ext cx="360" cy="17949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231" name="Google Shape;1440;p35"/>
            <p:cNvSpPr/>
            <p:nvPr/>
          </p:nvSpPr>
          <p:spPr>
            <a:xfrm rot="5400000">
              <a:off x="8047800" y="14734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2" name="Google Shape;1441;p35"/>
          <p:cNvGrpSpPr/>
          <p:nvPr/>
        </p:nvGrpSpPr>
        <p:grpSpPr>
          <a:xfrm>
            <a:off x="6309360" y="957600"/>
            <a:ext cx="3504960" cy="5118840"/>
            <a:chOff x="6309360" y="957600"/>
            <a:chExt cx="3504960" cy="5118840"/>
          </a:xfrm>
        </p:grpSpPr>
        <p:sp>
          <p:nvSpPr>
            <p:cNvPr id="233" name="Google Shape;1442;p35"/>
            <p:cNvSpPr/>
            <p:nvPr/>
          </p:nvSpPr>
          <p:spPr>
            <a:xfrm>
              <a:off x="6309360" y="9576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34" name="Google Shape;1443;p35"/>
            <p:cNvGrpSpPr/>
            <p:nvPr/>
          </p:nvGrpSpPr>
          <p:grpSpPr>
            <a:xfrm>
              <a:off x="7728480" y="3644640"/>
              <a:ext cx="133560" cy="133560"/>
              <a:chOff x="7728480" y="3644640"/>
              <a:chExt cx="133560" cy="133560"/>
            </a:xfrm>
          </p:grpSpPr>
          <p:sp>
            <p:nvSpPr>
              <p:cNvPr id="235" name="Google Shape;1444;p35"/>
              <p:cNvSpPr/>
              <p:nvPr/>
            </p:nvSpPr>
            <p:spPr>
              <a:xfrm>
                <a:off x="7728480" y="3644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6" name="Google Shape;1445;p35"/>
              <p:cNvSpPr/>
              <p:nvPr/>
            </p:nvSpPr>
            <p:spPr>
              <a:xfrm>
                <a:off x="7747200" y="366336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7" name="Google Shape;1446;p35"/>
            <p:cNvGrpSpPr/>
            <p:nvPr/>
          </p:nvGrpSpPr>
          <p:grpSpPr>
            <a:xfrm>
              <a:off x="7344360" y="3270960"/>
              <a:ext cx="133560" cy="133560"/>
              <a:chOff x="7344360" y="3270960"/>
              <a:chExt cx="133560" cy="133560"/>
            </a:xfrm>
          </p:grpSpPr>
          <p:sp>
            <p:nvSpPr>
              <p:cNvPr id="238" name="Google Shape;1447;p35"/>
              <p:cNvSpPr/>
              <p:nvPr/>
            </p:nvSpPr>
            <p:spPr>
              <a:xfrm>
                <a:off x="7344360" y="32709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9" name="Google Shape;1448;p35"/>
              <p:cNvSpPr/>
              <p:nvPr/>
            </p:nvSpPr>
            <p:spPr>
              <a:xfrm>
                <a:off x="7363440" y="32896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40" name="Google Shape;1449;p35"/>
            <p:cNvGrpSpPr/>
            <p:nvPr/>
          </p:nvGrpSpPr>
          <p:grpSpPr>
            <a:xfrm>
              <a:off x="8337960" y="2584440"/>
              <a:ext cx="133560" cy="133560"/>
              <a:chOff x="8337960" y="2584440"/>
              <a:chExt cx="133560" cy="133560"/>
            </a:xfrm>
          </p:grpSpPr>
          <p:sp>
            <p:nvSpPr>
              <p:cNvPr id="241" name="Google Shape;1450;p35"/>
              <p:cNvSpPr/>
              <p:nvPr/>
            </p:nvSpPr>
            <p:spPr>
              <a:xfrm>
                <a:off x="8337960" y="25844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2" name="Google Shape;1451;p35"/>
              <p:cNvSpPr/>
              <p:nvPr/>
            </p:nvSpPr>
            <p:spPr>
              <a:xfrm>
                <a:off x="8356680" y="26035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43" name="Google Shape;1452;p35"/>
            <p:cNvSpPr/>
            <p:nvPr/>
          </p:nvSpPr>
          <p:spPr>
            <a:xfrm rot="5400000">
              <a:off x="7687440" y="11433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25" name="Picture 7">
            <a:extLst>
              <a:ext uri="{FF2B5EF4-FFF2-40B4-BE49-F238E27FC236}">
                <a16:creationId xmlns:a16="http://schemas.microsoft.com/office/drawing/2014/main" id="{B1D5CB30-C006-07B6-E48E-F238CCCE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981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1">
            <a:extLst>
              <a:ext uri="{FF2B5EF4-FFF2-40B4-BE49-F238E27FC236}">
                <a16:creationId xmlns:a16="http://schemas.microsoft.com/office/drawing/2014/main" id="{215EB054-A1E0-AA32-6A4F-13AAB96B91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6697579" y="-83953"/>
            <a:ext cx="2446421" cy="124276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8109" y="1884355"/>
            <a:ext cx="4859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2"/>
                </a:solidFill>
              </a:rPr>
              <a:t>Sistem</a:t>
            </a:r>
            <a:r>
              <a:rPr lang="en-US" b="1" dirty="0">
                <a:solidFill>
                  <a:schemeClr val="bg2"/>
                </a:solidFill>
              </a:rPr>
              <a:t> </a:t>
            </a:r>
            <a:r>
              <a:rPr lang="en-US" b="1" dirty="0" err="1">
                <a:solidFill>
                  <a:schemeClr val="bg2"/>
                </a:solidFill>
              </a:rPr>
              <a:t>automatizat</a:t>
            </a:r>
            <a:r>
              <a:rPr lang="en-US" b="1" dirty="0">
                <a:solidFill>
                  <a:schemeClr val="bg2"/>
                </a:solidFill>
              </a:rPr>
              <a:t> </a:t>
            </a:r>
            <a:r>
              <a:rPr lang="en-US" b="1" dirty="0" err="1">
                <a:solidFill>
                  <a:schemeClr val="bg2"/>
                </a:solidFill>
              </a:rPr>
              <a:t>pentru</a:t>
            </a:r>
            <a:r>
              <a:rPr lang="en-US" b="1" dirty="0">
                <a:solidFill>
                  <a:schemeClr val="bg2"/>
                </a:solidFill>
              </a:rPr>
              <a:t> </a:t>
            </a:r>
            <a:r>
              <a:rPr lang="en-US" b="1" dirty="0" err="1">
                <a:solidFill>
                  <a:schemeClr val="bg2"/>
                </a:solidFill>
              </a:rPr>
              <a:t>caracterizarea</a:t>
            </a:r>
            <a:r>
              <a:rPr lang="en-US" b="1" dirty="0">
                <a:solidFill>
                  <a:schemeClr val="bg2"/>
                </a:solidFill>
              </a:rPr>
              <a:t> </a:t>
            </a:r>
          </a:p>
          <a:p>
            <a:r>
              <a:rPr lang="en-US" b="1" dirty="0" err="1">
                <a:solidFill>
                  <a:schemeClr val="bg2"/>
                </a:solidFill>
              </a:rPr>
              <a:t>componentelor</a:t>
            </a:r>
            <a:r>
              <a:rPr lang="en-US" b="1" dirty="0">
                <a:solidFill>
                  <a:schemeClr val="bg2"/>
                </a:solidFill>
              </a:rPr>
              <a:t> </a:t>
            </a:r>
            <a:r>
              <a:rPr lang="en-US" b="1" dirty="0" err="1">
                <a:solidFill>
                  <a:schemeClr val="bg2"/>
                </a:solidFill>
              </a:rPr>
              <a:t>semiconductoare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AutoShape 4" descr="Right arrow  Ic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676" y="2022279"/>
            <a:ext cx="413310" cy="41331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490924" y="2012010"/>
            <a:ext cx="413310" cy="413310"/>
          </a:xfrm>
          <a:prstGeom prst="rect">
            <a:avLst/>
          </a:prstGeom>
        </p:spPr>
      </p:pic>
      <p:sp>
        <p:nvSpPr>
          <p:cNvPr id="36" name="CasetăText 8">
            <a:extLst>
              <a:ext uri="{FF2B5EF4-FFF2-40B4-BE49-F238E27FC236}">
                <a16:creationId xmlns:a16="http://schemas.microsoft.com/office/drawing/2014/main" id="{E372E342-6D08-E87A-C194-A8C6B86F859D}"/>
              </a:ext>
            </a:extLst>
          </p:cNvPr>
          <p:cNvSpPr txBox="1"/>
          <p:nvPr/>
        </p:nvSpPr>
        <p:spPr>
          <a:xfrm>
            <a:off x="3017160" y="4764248"/>
            <a:ext cx="2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Timișoara 202</a:t>
            </a:r>
            <a:r>
              <a:rPr lang="en-US" dirty="0">
                <a:solidFill>
                  <a:schemeClr val="bg2"/>
                </a:solidFill>
              </a:rPr>
              <a:t>6</a:t>
            </a:r>
            <a:endParaRPr lang="ro-RO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"/>
          <p:cNvGrpSpPr/>
          <p:nvPr/>
        </p:nvGrpSpPr>
        <p:grpSpPr>
          <a:xfrm>
            <a:off x="1" y="3851757"/>
            <a:ext cx="4435577" cy="1291744"/>
            <a:chOff x="0" y="5135675"/>
            <a:chExt cx="5914103" cy="1722325"/>
          </a:xfrm>
        </p:grpSpPr>
        <p:sp>
          <p:nvSpPr>
            <p:cNvPr id="160" name="Google Shape;160;p1"/>
            <p:cNvSpPr/>
            <p:nvPr/>
          </p:nvSpPr>
          <p:spPr>
            <a:xfrm>
              <a:off x="1409514" y="5143823"/>
              <a:ext cx="4504589" cy="979530"/>
            </a:xfrm>
            <a:prstGeom prst="homePlate">
              <a:avLst>
                <a:gd name="adj" fmla="val 50000"/>
              </a:avLst>
            </a:prstGeom>
            <a:solidFill>
              <a:srgbClr val="95CA3E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10737" y="5135675"/>
              <a:ext cx="801806" cy="1709016"/>
            </a:xfrm>
            <a:custGeom>
              <a:avLst/>
              <a:gdLst/>
              <a:ahLst/>
              <a:cxnLst/>
              <a:rect l="l" t="t" r="r" b="b"/>
              <a:pathLst>
                <a:path w="801806" h="1406142" extrusionOk="0">
                  <a:moveTo>
                    <a:pt x="6824" y="461034"/>
                  </a:moveTo>
                  <a:lnTo>
                    <a:pt x="801806" y="0"/>
                  </a:lnTo>
                  <a:lnTo>
                    <a:pt x="801806" y="798816"/>
                  </a:lnTo>
                  <a:lnTo>
                    <a:pt x="0" y="1406142"/>
                  </a:lnTo>
                  <a:cubicBezTo>
                    <a:pt x="2275" y="1091106"/>
                    <a:pt x="4549" y="776070"/>
                    <a:pt x="6824" y="461034"/>
                  </a:cubicBezTo>
                  <a:close/>
                </a:path>
              </a:pathLst>
            </a:custGeom>
            <a:solidFill>
              <a:srgbClr val="7CAB2F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0" y="5715215"/>
              <a:ext cx="619432" cy="1142785"/>
            </a:xfrm>
            <a:prstGeom prst="rect">
              <a:avLst/>
            </a:prstGeom>
            <a:solidFill>
              <a:srgbClr val="95CA3E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"/>
            <p:cNvSpPr txBox="1"/>
            <p:nvPr/>
          </p:nvSpPr>
          <p:spPr>
            <a:xfrm>
              <a:off x="36869" y="6125255"/>
              <a:ext cx="545691" cy="369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algn="ctr"/>
              <a:r>
                <a:rPr lang="en-US" sz="1350">
                  <a:solidFill>
                    <a:schemeClr val="lt1"/>
                  </a:solidFill>
                  <a:latin typeface="IBM Plex Mono"/>
                  <a:ea typeface="Open Sans ExtraBold"/>
                  <a:cs typeface="Open Sans ExtraBold"/>
                  <a:sym typeface="Open Sans ExtraBold"/>
                </a:rPr>
                <a:t>06</a:t>
              </a:r>
              <a:endParaRPr sz="1350">
                <a:latin typeface="IBM Plex Mono"/>
              </a:endParaRPr>
            </a:p>
          </p:txBody>
        </p:sp>
        <p:grpSp>
          <p:nvGrpSpPr>
            <p:cNvPr id="165" name="Google Shape;165;p1"/>
            <p:cNvGrpSpPr/>
            <p:nvPr/>
          </p:nvGrpSpPr>
          <p:grpSpPr>
            <a:xfrm>
              <a:off x="1464984" y="5352389"/>
              <a:ext cx="3978430" cy="769400"/>
              <a:chOff x="1464984" y="529437"/>
              <a:chExt cx="3978430" cy="769400"/>
            </a:xfrm>
          </p:grpSpPr>
          <p:sp>
            <p:nvSpPr>
              <p:cNvPr id="166" name="Google Shape;166;p1"/>
              <p:cNvSpPr txBox="1"/>
              <p:nvPr/>
            </p:nvSpPr>
            <p:spPr>
              <a:xfrm>
                <a:off x="1464984" y="631120"/>
                <a:ext cx="1098764" cy="2974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/>
              <a:p>
                <a:r>
                  <a:rPr lang="en-US" sz="1000" dirty="0" err="1">
                    <a:solidFill>
                      <a:schemeClr val="lt1"/>
                    </a:solidFill>
                    <a:latin typeface="IBM Plex Mono"/>
                    <a:ea typeface="Open Sans SemiBold"/>
                    <a:cs typeface="Open Sans SemiBold"/>
                    <a:sym typeface="Open Sans SemiBold"/>
                  </a:rPr>
                  <a:t>Concluzii</a:t>
                </a:r>
                <a:endParaRPr sz="1000" dirty="0">
                  <a:latin typeface="IBM Plex Mono"/>
                </a:endParaRPr>
              </a:p>
            </p:txBody>
          </p:sp>
          <p:sp>
            <p:nvSpPr>
              <p:cNvPr id="167" name="Google Shape;167;p1"/>
              <p:cNvSpPr txBox="1"/>
              <p:nvPr/>
            </p:nvSpPr>
            <p:spPr>
              <a:xfrm>
                <a:off x="2626688" y="529437"/>
                <a:ext cx="2816726" cy="76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/>
              <a:p>
                <a:r>
                  <a:rPr lang="en-US" sz="1100" dirty="0" err="1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Analiza</a:t>
                </a:r>
                <a:r>
                  <a:rPr lang="en-US" sz="1100" dirty="0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1100" dirty="0" err="1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rezultatelor</a:t>
                </a:r>
                <a:r>
                  <a:rPr lang="en-US" sz="1100" dirty="0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 op</a:t>
                </a:r>
                <a:r>
                  <a:rPr lang="ro-RO" sz="1100" dirty="0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ț</a:t>
                </a:r>
                <a:r>
                  <a:rPr lang="en-US" sz="1100" dirty="0" err="1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inute</a:t>
                </a:r>
                <a:r>
                  <a:rPr lang="ro-RO" sz="1100" dirty="0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 ș</a:t>
                </a:r>
                <a:r>
                  <a:rPr lang="en-US" sz="1100" dirty="0" err="1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i</a:t>
                </a:r>
                <a:r>
                  <a:rPr lang="ro-RO" sz="1100" dirty="0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1100" dirty="0" err="1">
                    <a:solidFill>
                      <a:schemeClr val="lt1"/>
                    </a:solidFill>
                    <a:latin typeface="IBM Plex Mono"/>
                    <a:sym typeface="Open Sans"/>
                  </a:rPr>
                  <a:t>concluzii</a:t>
                </a:r>
                <a:r>
                  <a:rPr lang="en-US" sz="1100" dirty="0">
                    <a:solidFill>
                      <a:schemeClr val="lt1"/>
                    </a:solidFill>
                    <a:latin typeface="IBM Plex Mono"/>
                    <a:sym typeface="Open Sans"/>
                  </a:rPr>
                  <a:t> finale</a:t>
                </a:r>
                <a:endParaRPr sz="1100" dirty="0">
                  <a:latin typeface="IBM Plex Mono"/>
                </a:endParaRPr>
              </a:p>
            </p:txBody>
          </p:sp>
          <p:cxnSp>
            <p:nvCxnSpPr>
              <p:cNvPr id="168" name="Google Shape;168;p1"/>
              <p:cNvCxnSpPr/>
              <p:nvPr/>
            </p:nvCxnSpPr>
            <p:spPr>
              <a:xfrm>
                <a:off x="2616190" y="562344"/>
                <a:ext cx="0" cy="47788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69" name="Google Shape;169;p1"/>
          <p:cNvGrpSpPr/>
          <p:nvPr/>
        </p:nvGrpSpPr>
        <p:grpSpPr>
          <a:xfrm>
            <a:off x="1" y="3116566"/>
            <a:ext cx="5696564" cy="1169846"/>
            <a:chOff x="0" y="4155421"/>
            <a:chExt cx="7595419" cy="1559795"/>
          </a:xfrm>
        </p:grpSpPr>
        <p:sp>
          <p:nvSpPr>
            <p:cNvPr id="170" name="Google Shape;170;p1"/>
            <p:cNvSpPr/>
            <p:nvPr/>
          </p:nvSpPr>
          <p:spPr>
            <a:xfrm>
              <a:off x="0" y="4572431"/>
              <a:ext cx="619432" cy="1142785"/>
            </a:xfrm>
            <a:prstGeom prst="rect">
              <a:avLst/>
            </a:prstGeom>
            <a:solidFill>
              <a:srgbClr val="42C599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" name="Google Shape;171;p1"/>
            <p:cNvGrpSpPr/>
            <p:nvPr/>
          </p:nvGrpSpPr>
          <p:grpSpPr>
            <a:xfrm>
              <a:off x="36870" y="4155421"/>
              <a:ext cx="7558549" cy="1554724"/>
              <a:chOff x="36870" y="4155421"/>
              <a:chExt cx="7558549" cy="1554724"/>
            </a:xfrm>
          </p:grpSpPr>
          <p:sp>
            <p:nvSpPr>
              <p:cNvPr id="172" name="Google Shape;172;p1"/>
              <p:cNvSpPr/>
              <p:nvPr/>
            </p:nvSpPr>
            <p:spPr>
              <a:xfrm>
                <a:off x="1409514" y="4172192"/>
                <a:ext cx="6185905" cy="979530"/>
              </a:xfrm>
              <a:prstGeom prst="homePlate">
                <a:avLst>
                  <a:gd name="adj" fmla="val 50000"/>
                </a:avLst>
              </a:prstGeom>
              <a:solidFill>
                <a:srgbClr val="42C599"/>
              </a:solidFill>
              <a:ln>
                <a:noFill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IBM Plex Mono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610421" y="4155421"/>
                <a:ext cx="807773" cy="1554724"/>
              </a:xfrm>
              <a:custGeom>
                <a:avLst/>
                <a:gdLst/>
                <a:ahLst/>
                <a:cxnLst/>
                <a:rect l="l" t="t" r="r" b="b"/>
                <a:pathLst>
                  <a:path w="807773" h="1290061" extrusionOk="0">
                    <a:moveTo>
                      <a:pt x="1120" y="340716"/>
                    </a:moveTo>
                    <a:lnTo>
                      <a:pt x="807773" y="0"/>
                    </a:lnTo>
                    <a:lnTo>
                      <a:pt x="807773" y="815388"/>
                    </a:lnTo>
                    <a:lnTo>
                      <a:pt x="1120" y="1290061"/>
                    </a:lnTo>
                    <a:cubicBezTo>
                      <a:pt x="149" y="978466"/>
                      <a:pt x="-821" y="666871"/>
                      <a:pt x="1120" y="340716"/>
                    </a:cubicBezTo>
                    <a:close/>
                  </a:path>
                </a:pathLst>
              </a:custGeom>
              <a:solidFill>
                <a:srgbClr val="3ABC91"/>
              </a:solidFill>
              <a:ln>
                <a:noFill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IBM Plex Mono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"/>
              <p:cNvSpPr txBox="1"/>
              <p:nvPr/>
            </p:nvSpPr>
            <p:spPr>
              <a:xfrm>
                <a:off x="36870" y="4998794"/>
                <a:ext cx="545691" cy="3692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lt1"/>
                    </a:solidFill>
                    <a:latin typeface="IBM Plex Mono"/>
                    <a:ea typeface="Open Sans ExtraBold"/>
                    <a:cs typeface="Open Sans ExtraBold"/>
                    <a:sym typeface="Open Sans ExtraBold"/>
                  </a:rPr>
                  <a:t>05</a:t>
                </a:r>
                <a:endParaRPr sz="1350" dirty="0">
                  <a:latin typeface="IBM Plex Mono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 rot="10800000">
                <a:off x="1409514" y="5147607"/>
                <a:ext cx="4015059" cy="138601"/>
              </a:xfrm>
              <a:prstGeom prst="rtTriangle">
                <a:avLst/>
              </a:prstGeom>
              <a:gradFill>
                <a:gsLst>
                  <a:gs pos="0">
                    <a:srgbClr val="000000">
                      <a:alpha val="53725"/>
                    </a:srgbClr>
                  </a:gs>
                  <a:gs pos="916">
                    <a:srgbClr val="000000">
                      <a:alpha val="53725"/>
                    </a:srgbClr>
                  </a:gs>
                  <a:gs pos="76000">
                    <a:srgbClr val="000000">
                      <a:alpha val="28627"/>
                    </a:srgbClr>
                  </a:gs>
                  <a:gs pos="100000">
                    <a:srgbClr val="3B74C5">
                      <a:alpha val="0"/>
                    </a:srgbClr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IBM Plex Mono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7" name="Google Shape;177;p1"/>
              <p:cNvGrpSpPr/>
              <p:nvPr/>
            </p:nvGrpSpPr>
            <p:grpSpPr>
              <a:xfrm>
                <a:off x="1440228" y="4315458"/>
                <a:ext cx="5073547" cy="574664"/>
                <a:chOff x="1440228" y="465566"/>
                <a:chExt cx="5073547" cy="574664"/>
              </a:xfrm>
            </p:grpSpPr>
            <p:sp>
              <p:nvSpPr>
                <p:cNvPr id="178" name="Google Shape;178;p1"/>
                <p:cNvSpPr txBox="1"/>
                <p:nvPr/>
              </p:nvSpPr>
              <p:spPr>
                <a:xfrm>
                  <a:off x="1440228" y="609581"/>
                  <a:ext cx="1351296" cy="2974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34275" rIns="68569" bIns="34275" anchor="t" anchorCtr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bg1"/>
                      </a:solidFill>
                      <a:latin typeface="IBM Plex Mono"/>
                    </a:rPr>
                    <a:t>Software</a:t>
                  </a:r>
                  <a:endParaRPr sz="1000" dirty="0">
                    <a:solidFill>
                      <a:schemeClr val="bg1"/>
                    </a:solidFill>
                    <a:latin typeface="IBM Plex Mono"/>
                  </a:endParaRPr>
                </a:p>
              </p:txBody>
            </p:sp>
            <p:sp>
              <p:nvSpPr>
                <p:cNvPr id="179" name="Google Shape;179;p1"/>
                <p:cNvSpPr txBox="1"/>
                <p:nvPr/>
              </p:nvSpPr>
              <p:spPr>
                <a:xfrm>
                  <a:off x="2700096" y="465566"/>
                  <a:ext cx="3813679" cy="5436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34275" rIns="68569" bIns="34275" anchor="t" anchorCtr="0">
                  <a:spAutoFit/>
                </a:bodyPr>
                <a:lstStyle/>
                <a:p>
                  <a:r>
                    <a:rPr lang="en-US" sz="1100" dirty="0" err="1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Arhitectura</a:t>
                  </a:r>
                  <a:r>
                    <a:rPr lang="en-US" sz="1100" dirty="0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 software a </a:t>
                  </a:r>
                  <a:r>
                    <a:rPr lang="en-US" sz="1100" dirty="0" err="1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aplica</a:t>
                  </a:r>
                  <a:r>
                    <a:rPr lang="ro-RO" sz="1100" dirty="0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ț</a:t>
                  </a:r>
                  <a:r>
                    <a:rPr lang="en-US" sz="1100" dirty="0" err="1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iei</a:t>
                  </a:r>
                  <a:r>
                    <a:rPr lang="ro-RO" sz="1100" dirty="0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 ș</a:t>
                  </a:r>
                  <a:r>
                    <a:rPr lang="en-US" sz="1100" dirty="0" err="1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i</a:t>
                  </a:r>
                  <a:r>
                    <a:rPr lang="en-US" sz="1100" dirty="0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 </a:t>
                  </a:r>
                  <a:r>
                    <a:rPr lang="en-US" sz="1100" dirty="0" err="1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interfa</a:t>
                  </a:r>
                  <a:r>
                    <a:rPr lang="ro-RO" sz="1100" dirty="0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ț</a:t>
                  </a:r>
                  <a:r>
                    <a:rPr lang="en-US" sz="1100" dirty="0">
                      <a:solidFill>
                        <a:schemeClr val="lt1"/>
                      </a:solidFill>
                      <a:latin typeface="IBM Plex Mono"/>
                      <a:ea typeface="Open Sans"/>
                      <a:cs typeface="Open Sans"/>
                      <a:sym typeface="Open Sans"/>
                    </a:rPr>
                    <a:t>a</a:t>
                  </a:r>
                </a:p>
                <a:p>
                  <a:r>
                    <a:rPr lang="en-US" sz="1100" dirty="0" err="1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grafic</a:t>
                  </a:r>
                  <a:r>
                    <a:rPr lang="ro-RO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ă</a:t>
                  </a:r>
                  <a:r>
                    <a:rPr lang="en-US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 </a:t>
                  </a:r>
                  <a:r>
                    <a:rPr lang="ro-RO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î</a:t>
                  </a:r>
                  <a:r>
                    <a:rPr lang="en-US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n </a:t>
                  </a:r>
                  <a:r>
                    <a:rPr lang="ro-RO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C# (</a:t>
                  </a:r>
                  <a:r>
                    <a:rPr lang="en-US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WPF</a:t>
                  </a:r>
                  <a:r>
                    <a:rPr lang="ro-RO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)</a:t>
                  </a:r>
                  <a:r>
                    <a:rPr lang="en-US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.</a:t>
                  </a:r>
                  <a:endParaRPr sz="1100" dirty="0">
                    <a:latin typeface="IBM Plex Mono"/>
                  </a:endParaRPr>
                </a:p>
              </p:txBody>
            </p:sp>
            <p:cxnSp>
              <p:nvCxnSpPr>
                <p:cNvPr id="180" name="Google Shape;180;p1"/>
                <p:cNvCxnSpPr/>
                <p:nvPr/>
              </p:nvCxnSpPr>
              <p:spPr>
                <a:xfrm>
                  <a:off x="2616190" y="562344"/>
                  <a:ext cx="0" cy="477886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</p:grpSp>
      </p:grpSp>
      <p:grpSp>
        <p:nvGrpSpPr>
          <p:cNvPr id="181" name="Google Shape;181;p1"/>
          <p:cNvGrpSpPr/>
          <p:nvPr/>
        </p:nvGrpSpPr>
        <p:grpSpPr>
          <a:xfrm>
            <a:off x="0" y="2388086"/>
            <a:ext cx="5973097" cy="1045040"/>
            <a:chOff x="0" y="3184115"/>
            <a:chExt cx="7964129" cy="1393386"/>
          </a:xfrm>
        </p:grpSpPr>
        <p:sp>
          <p:nvSpPr>
            <p:cNvPr id="182" name="Google Shape;182;p1"/>
            <p:cNvSpPr/>
            <p:nvPr/>
          </p:nvSpPr>
          <p:spPr>
            <a:xfrm>
              <a:off x="0" y="3429646"/>
              <a:ext cx="619432" cy="1142785"/>
            </a:xfrm>
            <a:prstGeom prst="rect">
              <a:avLst/>
            </a:prstGeom>
            <a:solidFill>
              <a:srgbClr val="3DC3CE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3" name="Google Shape;183;p1"/>
            <p:cNvGrpSpPr/>
            <p:nvPr/>
          </p:nvGrpSpPr>
          <p:grpSpPr>
            <a:xfrm>
              <a:off x="36870" y="3184115"/>
              <a:ext cx="7927259" cy="1393386"/>
              <a:chOff x="36870" y="3184115"/>
              <a:chExt cx="7927259" cy="1393386"/>
            </a:xfrm>
          </p:grpSpPr>
          <p:sp>
            <p:nvSpPr>
              <p:cNvPr id="184" name="Google Shape;184;p1"/>
              <p:cNvSpPr/>
              <p:nvPr/>
            </p:nvSpPr>
            <p:spPr>
              <a:xfrm>
                <a:off x="1409514" y="3191936"/>
                <a:ext cx="6554615" cy="979530"/>
              </a:xfrm>
              <a:prstGeom prst="homePlate">
                <a:avLst>
                  <a:gd name="adj" fmla="val 50000"/>
                </a:avLst>
              </a:prstGeom>
              <a:solidFill>
                <a:srgbClr val="3DC3CE"/>
              </a:solidFill>
              <a:ln>
                <a:noFill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IBM Plex Mono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99893" y="3184115"/>
                <a:ext cx="812476" cy="1393386"/>
              </a:xfrm>
              <a:custGeom>
                <a:avLst/>
                <a:gdLst/>
                <a:ahLst/>
                <a:cxnLst/>
                <a:rect l="l" t="t" r="r" b="b"/>
                <a:pathLst>
                  <a:path w="812476" h="1170665" extrusionOk="0">
                    <a:moveTo>
                      <a:pt x="11648" y="1170665"/>
                    </a:moveTo>
                    <a:lnTo>
                      <a:pt x="812476" y="829949"/>
                    </a:lnTo>
                    <a:lnTo>
                      <a:pt x="812476" y="0"/>
                    </a:lnTo>
                    <a:lnTo>
                      <a:pt x="0" y="203847"/>
                    </a:lnTo>
                    <a:lnTo>
                      <a:pt x="11648" y="1170665"/>
                    </a:lnTo>
                    <a:close/>
                  </a:path>
                </a:pathLst>
              </a:custGeom>
              <a:solidFill>
                <a:srgbClr val="2EAEB8"/>
              </a:solidFill>
              <a:ln>
                <a:noFill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IBM Plex Mono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"/>
              <p:cNvSpPr txBox="1"/>
              <p:nvPr/>
            </p:nvSpPr>
            <p:spPr>
              <a:xfrm>
                <a:off x="36870" y="3856009"/>
                <a:ext cx="545691" cy="3692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lt1"/>
                    </a:solidFill>
                    <a:latin typeface="IBM Plex Mono"/>
                    <a:ea typeface="Open Sans ExtraBold"/>
                    <a:cs typeface="Open Sans ExtraBold"/>
                    <a:sym typeface="Open Sans ExtraBold"/>
                  </a:rPr>
                  <a:t>04</a:t>
                </a:r>
                <a:endParaRPr sz="1350" dirty="0">
                  <a:latin typeface="IBM Plex Mono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 rot="10800000">
                <a:off x="1372039" y="4160465"/>
                <a:ext cx="5607884" cy="186046"/>
              </a:xfrm>
              <a:prstGeom prst="rtTriangle">
                <a:avLst/>
              </a:prstGeom>
              <a:gradFill>
                <a:gsLst>
                  <a:gs pos="0">
                    <a:srgbClr val="000000">
                      <a:alpha val="53725"/>
                    </a:srgbClr>
                  </a:gs>
                  <a:gs pos="916">
                    <a:srgbClr val="000000">
                      <a:alpha val="53725"/>
                    </a:srgbClr>
                  </a:gs>
                  <a:gs pos="76000">
                    <a:srgbClr val="000000">
                      <a:alpha val="28627"/>
                    </a:srgbClr>
                  </a:gs>
                  <a:gs pos="100000">
                    <a:srgbClr val="3B74C5">
                      <a:alpha val="0"/>
                    </a:srgbClr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IBM Plex Mono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9" name="Google Shape;189;p1"/>
              <p:cNvGrpSpPr/>
              <p:nvPr/>
            </p:nvGrpSpPr>
            <p:grpSpPr>
              <a:xfrm>
                <a:off x="2616190" y="3439244"/>
                <a:ext cx="3897586" cy="769400"/>
                <a:chOff x="2616190" y="517612"/>
                <a:chExt cx="3897586" cy="769400"/>
              </a:xfrm>
            </p:grpSpPr>
            <p:sp>
              <p:nvSpPr>
                <p:cNvPr id="191" name="Google Shape;191;p1"/>
                <p:cNvSpPr txBox="1"/>
                <p:nvPr/>
              </p:nvSpPr>
              <p:spPr>
                <a:xfrm>
                  <a:off x="2671137" y="517612"/>
                  <a:ext cx="3842639" cy="769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34275" rIns="68569" bIns="34275" anchor="t" anchorCtr="0">
                  <a:spAutoFit/>
                </a:bodyPr>
                <a:lstStyle/>
                <a:p>
                  <a:r>
                    <a:rPr lang="ro-RO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Integrarea modului de comunicare dintre</a:t>
                  </a:r>
                </a:p>
                <a:p>
                  <a:r>
                    <a:rPr lang="ro-RO" sz="1100" dirty="0">
                      <a:solidFill>
                        <a:schemeClr val="lt1"/>
                      </a:solidFill>
                      <a:latin typeface="IBM Plex Mono"/>
                      <a:sym typeface="Open Sans"/>
                    </a:rPr>
                    <a:t>echipamente și calculator.</a:t>
                  </a:r>
                  <a:endParaRPr lang="en-US" sz="1100" dirty="0">
                    <a:latin typeface="IBM Plex Mono"/>
                  </a:endParaRPr>
                </a:p>
                <a:p>
                  <a:endParaRPr sz="1100" dirty="0">
                    <a:latin typeface="IBM Plex Mono"/>
                  </a:endParaRPr>
                </a:p>
              </p:txBody>
            </p:sp>
            <p:cxnSp>
              <p:nvCxnSpPr>
                <p:cNvPr id="192" name="Google Shape;192;p1"/>
                <p:cNvCxnSpPr/>
                <p:nvPr/>
              </p:nvCxnSpPr>
              <p:spPr>
                <a:xfrm>
                  <a:off x="2616190" y="562344"/>
                  <a:ext cx="0" cy="477886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</p:grpSp>
      </p:grpSp>
      <p:grpSp>
        <p:nvGrpSpPr>
          <p:cNvPr id="193" name="Google Shape;193;p1"/>
          <p:cNvGrpSpPr/>
          <p:nvPr/>
        </p:nvGrpSpPr>
        <p:grpSpPr>
          <a:xfrm>
            <a:off x="1" y="1657598"/>
            <a:ext cx="5527661" cy="914637"/>
            <a:chOff x="0" y="2210131"/>
            <a:chExt cx="7370215" cy="1219516"/>
          </a:xfrm>
        </p:grpSpPr>
        <p:sp>
          <p:nvSpPr>
            <p:cNvPr id="194" name="Google Shape;194;p1"/>
            <p:cNvSpPr/>
            <p:nvPr/>
          </p:nvSpPr>
          <p:spPr>
            <a:xfrm>
              <a:off x="0" y="2286862"/>
              <a:ext cx="619432" cy="1142785"/>
            </a:xfrm>
            <a:prstGeom prst="rect">
              <a:avLst/>
            </a:prstGeom>
            <a:solidFill>
              <a:srgbClr val="3C97CC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1409513" y="2212406"/>
              <a:ext cx="5960702" cy="979530"/>
            </a:xfrm>
            <a:prstGeom prst="homePlate">
              <a:avLst>
                <a:gd name="adj" fmla="val 50000"/>
              </a:avLst>
            </a:prstGeom>
            <a:solidFill>
              <a:srgbClr val="3C97CC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02805" y="2210131"/>
              <a:ext cx="821213" cy="1219515"/>
            </a:xfrm>
            <a:custGeom>
              <a:avLst/>
              <a:gdLst/>
              <a:ahLst/>
              <a:cxnLst/>
              <a:rect l="l" t="t" r="r" b="b"/>
              <a:pathLst>
                <a:path w="821213" h="1013412" extrusionOk="0">
                  <a:moveTo>
                    <a:pt x="5824" y="58242"/>
                  </a:moveTo>
                  <a:lnTo>
                    <a:pt x="821213" y="0"/>
                  </a:lnTo>
                  <a:lnTo>
                    <a:pt x="809564" y="824125"/>
                  </a:lnTo>
                  <a:lnTo>
                    <a:pt x="0" y="1013412"/>
                  </a:lnTo>
                  <a:cubicBezTo>
                    <a:pt x="1941" y="695022"/>
                    <a:pt x="3883" y="376632"/>
                    <a:pt x="5824" y="58242"/>
                  </a:cubicBezTo>
                  <a:close/>
                </a:path>
              </a:pathLst>
            </a:custGeom>
            <a:solidFill>
              <a:srgbClr val="2D7FAD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 txBox="1"/>
            <p:nvPr/>
          </p:nvSpPr>
          <p:spPr>
            <a:xfrm>
              <a:off x="36869" y="2704274"/>
              <a:ext cx="545691" cy="369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algn="ctr"/>
              <a:r>
                <a:rPr lang="en-US" sz="1350">
                  <a:solidFill>
                    <a:schemeClr val="lt1"/>
                  </a:solidFill>
                  <a:latin typeface="IBM Plex Mono"/>
                  <a:ea typeface="Open Sans ExtraBold"/>
                  <a:cs typeface="Open Sans ExtraBold"/>
                  <a:sym typeface="Open Sans ExtraBold"/>
                </a:rPr>
                <a:t>03</a:t>
              </a:r>
              <a:endParaRPr sz="1350">
                <a:latin typeface="IBM Plex Mono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 rot="10800000">
              <a:off x="1328142" y="3181258"/>
              <a:ext cx="5239175" cy="247754"/>
            </a:xfrm>
            <a:prstGeom prst="rtTriangle">
              <a:avLst/>
            </a:prstGeom>
            <a:gradFill>
              <a:gsLst>
                <a:gs pos="0">
                  <a:srgbClr val="000000">
                    <a:alpha val="53725"/>
                  </a:srgbClr>
                </a:gs>
                <a:gs pos="916">
                  <a:srgbClr val="000000">
                    <a:alpha val="53725"/>
                  </a:srgbClr>
                </a:gs>
                <a:gs pos="76000">
                  <a:srgbClr val="000000">
                    <a:alpha val="28627"/>
                  </a:srgbClr>
                </a:gs>
                <a:gs pos="100000">
                  <a:srgbClr val="3B74C5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0" name="Google Shape;200;p1"/>
            <p:cNvGrpSpPr/>
            <p:nvPr/>
          </p:nvGrpSpPr>
          <p:grpSpPr>
            <a:xfrm>
              <a:off x="1537164" y="2419432"/>
              <a:ext cx="4369909" cy="769401"/>
              <a:chOff x="1537164" y="533137"/>
              <a:chExt cx="4369909" cy="769401"/>
            </a:xfrm>
          </p:grpSpPr>
          <p:sp>
            <p:nvSpPr>
              <p:cNvPr id="201" name="Google Shape;201;p1"/>
              <p:cNvSpPr txBox="1"/>
              <p:nvPr/>
            </p:nvSpPr>
            <p:spPr>
              <a:xfrm>
                <a:off x="1537164" y="557896"/>
                <a:ext cx="1404681" cy="5026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/>
              <a:p>
                <a:r>
                  <a:rPr lang="en-US" sz="1000" dirty="0" err="1">
                    <a:solidFill>
                      <a:schemeClr val="bg1"/>
                    </a:solidFill>
                    <a:latin typeface="IBM Plex Mono"/>
                  </a:rPr>
                  <a:t>Nivelul</a:t>
                </a:r>
                <a:endParaRPr lang="en-US" sz="1000" dirty="0">
                  <a:solidFill>
                    <a:schemeClr val="bg1"/>
                  </a:solidFill>
                  <a:latin typeface="IBM Plex Mono"/>
                </a:endParaRPr>
              </a:p>
              <a:p>
                <a:r>
                  <a:rPr lang="en-US" sz="1000" dirty="0">
                    <a:solidFill>
                      <a:schemeClr val="bg1"/>
                    </a:solidFill>
                    <a:latin typeface="IBM Plex Mono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IBM Plex Mono"/>
                  </a:rPr>
                  <a:t>Fizic</a:t>
                </a:r>
                <a:endParaRPr lang="en-US" sz="1000" dirty="0">
                  <a:solidFill>
                    <a:schemeClr val="bg1"/>
                  </a:solidFill>
                  <a:latin typeface="IBM Plex Mono"/>
                </a:endParaRPr>
              </a:p>
            </p:txBody>
          </p:sp>
          <p:sp>
            <p:nvSpPr>
              <p:cNvPr id="202" name="Google Shape;202;p1"/>
              <p:cNvSpPr txBox="1"/>
              <p:nvPr/>
            </p:nvSpPr>
            <p:spPr>
              <a:xfrm>
                <a:off x="2706673" y="533137"/>
                <a:ext cx="3200400" cy="769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/>
              <a:p>
                <a:r>
                  <a:rPr lang="pt-BR" sz="1100" dirty="0">
                    <a:solidFill>
                      <a:schemeClr val="bg1"/>
                    </a:solidFill>
                    <a:latin typeface="IBM Plex Mono"/>
                  </a:rPr>
                  <a:t>Integrarea instrumentelor R&amp;S (HMC8043/8012) în fluxul ATE.</a:t>
                </a:r>
              </a:p>
              <a:p>
                <a:endParaRPr sz="1100" dirty="0">
                  <a:latin typeface="IBM Plex Mono"/>
                </a:endParaRPr>
              </a:p>
            </p:txBody>
          </p:sp>
          <p:cxnSp>
            <p:nvCxnSpPr>
              <p:cNvPr id="203" name="Google Shape;203;p1"/>
              <p:cNvCxnSpPr/>
              <p:nvPr/>
            </p:nvCxnSpPr>
            <p:spPr>
              <a:xfrm>
                <a:off x="2616190" y="562344"/>
                <a:ext cx="0" cy="47788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204" name="Google Shape;204;p1"/>
          <p:cNvGrpSpPr/>
          <p:nvPr/>
        </p:nvGrpSpPr>
        <p:grpSpPr>
          <a:xfrm>
            <a:off x="0" y="852212"/>
            <a:ext cx="6559346" cy="1027136"/>
            <a:chOff x="0" y="1136283"/>
            <a:chExt cx="8745794" cy="1369515"/>
          </a:xfrm>
        </p:grpSpPr>
        <p:sp>
          <p:nvSpPr>
            <p:cNvPr id="205" name="Google Shape;205;p1"/>
            <p:cNvSpPr/>
            <p:nvPr/>
          </p:nvSpPr>
          <p:spPr>
            <a:xfrm>
              <a:off x="0" y="1144077"/>
              <a:ext cx="619432" cy="1142785"/>
            </a:xfrm>
            <a:prstGeom prst="rect">
              <a:avLst/>
            </a:prstGeom>
            <a:solidFill>
              <a:srgbClr val="3B74C5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1409514" y="1272567"/>
              <a:ext cx="7336280" cy="979530"/>
            </a:xfrm>
            <a:prstGeom prst="homePlate">
              <a:avLst>
                <a:gd name="adj" fmla="val 50000"/>
              </a:avLst>
            </a:prstGeom>
            <a:solidFill>
              <a:srgbClr val="3B74C5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598098" y="1136283"/>
              <a:ext cx="822385" cy="1150578"/>
            </a:xfrm>
            <a:custGeom>
              <a:avLst/>
              <a:gdLst/>
              <a:ahLst/>
              <a:cxnLst/>
              <a:rect l="l" t="t" r="r" b="b"/>
              <a:pathLst>
                <a:path w="822385" h="954657" extrusionOk="0">
                  <a:moveTo>
                    <a:pt x="0" y="0"/>
                  </a:moveTo>
                  <a:lnTo>
                    <a:pt x="822385" y="103517"/>
                  </a:lnTo>
                  <a:lnTo>
                    <a:pt x="822385" y="902898"/>
                  </a:lnTo>
                  <a:lnTo>
                    <a:pt x="11502" y="954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67B2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"/>
            <p:cNvSpPr txBox="1"/>
            <p:nvPr/>
          </p:nvSpPr>
          <p:spPr>
            <a:xfrm>
              <a:off x="36871" y="1524150"/>
              <a:ext cx="545691" cy="369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algn="ctr"/>
              <a:r>
                <a:rPr lang="en-US" sz="1350">
                  <a:solidFill>
                    <a:schemeClr val="lt1"/>
                  </a:solidFill>
                  <a:latin typeface="IBM Plex Mono"/>
                  <a:ea typeface="Open Sans ExtraBold"/>
                  <a:cs typeface="Open Sans ExtraBold"/>
                  <a:sym typeface="Open Sans ExtraBold"/>
                </a:rPr>
                <a:t>02</a:t>
              </a:r>
              <a:endParaRPr sz="1350">
                <a:latin typeface="IBM Plex Mono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 rot="10800000">
              <a:off x="1377751" y="2203328"/>
              <a:ext cx="6554613" cy="276927"/>
            </a:xfrm>
            <a:prstGeom prst="rtTriangle">
              <a:avLst/>
            </a:prstGeom>
            <a:gradFill>
              <a:gsLst>
                <a:gs pos="0">
                  <a:srgbClr val="000000">
                    <a:alpha val="53725"/>
                  </a:srgbClr>
                </a:gs>
                <a:gs pos="916">
                  <a:srgbClr val="000000">
                    <a:alpha val="53725"/>
                  </a:srgbClr>
                </a:gs>
                <a:gs pos="76000">
                  <a:srgbClr val="000000">
                    <a:alpha val="28627"/>
                  </a:srgbClr>
                </a:gs>
                <a:gs pos="100000">
                  <a:srgbClr val="3B74C5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1" name="Google Shape;211;p1"/>
            <p:cNvGrpSpPr/>
            <p:nvPr/>
          </p:nvGrpSpPr>
          <p:grpSpPr>
            <a:xfrm>
              <a:off x="1359962" y="1469657"/>
              <a:ext cx="5347661" cy="1036141"/>
              <a:chOff x="1359962" y="528764"/>
              <a:chExt cx="5347661" cy="1036141"/>
            </a:xfrm>
          </p:grpSpPr>
          <p:sp>
            <p:nvSpPr>
              <p:cNvPr id="212" name="Google Shape;212;p1"/>
              <p:cNvSpPr txBox="1"/>
              <p:nvPr/>
            </p:nvSpPr>
            <p:spPr>
              <a:xfrm>
                <a:off x="1359962" y="528764"/>
                <a:ext cx="1326656" cy="1036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/>
              <a:p>
                <a:r>
                  <a:rPr lang="en-US" sz="1000" dirty="0" err="1">
                    <a:solidFill>
                      <a:schemeClr val="bg1"/>
                    </a:solidFill>
                    <a:latin typeface="IBM Plex Mono"/>
                  </a:rPr>
                  <a:t>Arhitectura</a:t>
                </a:r>
                <a:r>
                  <a:rPr lang="en-US" sz="1000" dirty="0">
                    <a:solidFill>
                      <a:schemeClr val="bg1"/>
                    </a:solidFill>
                    <a:latin typeface="IBM Plex Mono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IBM Plex Mono"/>
                  </a:rPr>
                  <a:t>Sistemului</a:t>
                </a:r>
                <a:r>
                  <a:rPr lang="en-US" sz="1000" dirty="0">
                    <a:solidFill>
                      <a:schemeClr val="bg1"/>
                    </a:solidFill>
                    <a:latin typeface="IBM Plex Mono"/>
                    <a:ea typeface="Open Sans SemiBold"/>
                    <a:cs typeface="Open Sans SemiBold"/>
                    <a:sym typeface="Open Sans SemiBold"/>
                  </a:rPr>
                  <a:t> </a:t>
                </a:r>
                <a:endParaRPr lang="en-US" sz="1000" dirty="0">
                  <a:solidFill>
                    <a:schemeClr val="bg1"/>
                  </a:solidFill>
                  <a:latin typeface="IBM Plex Mono"/>
                </a:endParaRPr>
              </a:p>
              <a:p>
                <a:endParaRPr lang="en-US" sz="1300" dirty="0">
                  <a:solidFill>
                    <a:schemeClr val="bg1"/>
                  </a:solidFill>
                  <a:latin typeface="IBM Plex Mono"/>
                </a:endParaRPr>
              </a:p>
              <a:p>
                <a:endParaRPr sz="1300" dirty="0">
                  <a:solidFill>
                    <a:schemeClr val="bg1"/>
                  </a:solidFill>
                  <a:latin typeface="IBM Plex Mono"/>
                </a:endParaRPr>
              </a:p>
            </p:txBody>
          </p:sp>
          <p:sp>
            <p:nvSpPr>
              <p:cNvPr id="213" name="Google Shape;213;p1"/>
              <p:cNvSpPr txBox="1"/>
              <p:nvPr/>
            </p:nvSpPr>
            <p:spPr>
              <a:xfrm>
                <a:off x="2700098" y="638005"/>
                <a:ext cx="4007525" cy="317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/>
              <a:p>
                <a:r>
                  <a:rPr lang="en-US" sz="1100" dirty="0" err="1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Configura</a:t>
                </a:r>
                <a:r>
                  <a:rPr lang="ro-RO" sz="1100" dirty="0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ț</a:t>
                </a:r>
                <a:r>
                  <a:rPr lang="en-US" sz="1100" dirty="0" err="1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ie</a:t>
                </a:r>
                <a:r>
                  <a:rPr lang="en-US" sz="1100" dirty="0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 experimental</a:t>
                </a:r>
                <a:r>
                  <a:rPr lang="ro-RO" sz="1100" dirty="0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ă</a:t>
                </a:r>
                <a:r>
                  <a:rPr lang="en-US" sz="1100" dirty="0">
                    <a:solidFill>
                      <a:schemeClr val="lt1"/>
                    </a:solidFill>
                    <a:latin typeface="IBM Plex Mono"/>
                    <a:ea typeface="Open Sans"/>
                    <a:cs typeface="Open Sans"/>
                    <a:sym typeface="Open Sans"/>
                  </a:rPr>
                  <a:t>.</a:t>
                </a:r>
                <a:endParaRPr sz="1100" dirty="0">
                  <a:solidFill>
                    <a:schemeClr val="bg1"/>
                  </a:solidFill>
                  <a:latin typeface="IBM Plex Mono"/>
                </a:endParaRPr>
              </a:p>
            </p:txBody>
          </p:sp>
          <p:cxnSp>
            <p:nvCxnSpPr>
              <p:cNvPr id="214" name="Google Shape;214;p1"/>
              <p:cNvCxnSpPr/>
              <p:nvPr/>
            </p:nvCxnSpPr>
            <p:spPr>
              <a:xfrm>
                <a:off x="2616190" y="562344"/>
                <a:ext cx="0" cy="47788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grpSp>
        <p:nvGrpSpPr>
          <p:cNvPr id="215" name="Google Shape;215;p1"/>
          <p:cNvGrpSpPr/>
          <p:nvPr/>
        </p:nvGrpSpPr>
        <p:grpSpPr>
          <a:xfrm>
            <a:off x="0" y="1"/>
            <a:ext cx="5973097" cy="1118294"/>
            <a:chOff x="0" y="0"/>
            <a:chExt cx="7964129" cy="1491059"/>
          </a:xfrm>
        </p:grpSpPr>
        <p:sp>
          <p:nvSpPr>
            <p:cNvPr id="216" name="Google Shape;216;p1"/>
            <p:cNvSpPr/>
            <p:nvPr/>
          </p:nvSpPr>
          <p:spPr>
            <a:xfrm>
              <a:off x="0" y="1293"/>
              <a:ext cx="619432" cy="1142785"/>
            </a:xfrm>
            <a:prstGeom prst="rect">
              <a:avLst/>
            </a:prstGeom>
            <a:solidFill>
              <a:srgbClr val="4C4CB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1409514" y="293038"/>
              <a:ext cx="6554615" cy="979530"/>
            </a:xfrm>
            <a:prstGeom prst="homePlate">
              <a:avLst>
                <a:gd name="adj" fmla="val 50000"/>
              </a:avLst>
            </a:prstGeom>
            <a:solidFill>
              <a:srgbClr val="4C4CB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 rot="10800000">
              <a:off x="1301737" y="1259248"/>
              <a:ext cx="5960701" cy="231811"/>
            </a:xfrm>
            <a:prstGeom prst="rtTriangle">
              <a:avLst/>
            </a:prstGeom>
            <a:gradFill>
              <a:gsLst>
                <a:gs pos="0">
                  <a:srgbClr val="000000">
                    <a:alpha val="53725"/>
                  </a:srgbClr>
                </a:gs>
                <a:gs pos="916">
                  <a:srgbClr val="000000">
                    <a:alpha val="53725"/>
                  </a:srgbClr>
                </a:gs>
                <a:gs pos="76000">
                  <a:srgbClr val="000000">
                    <a:alpha val="28627"/>
                  </a:srgbClr>
                </a:gs>
                <a:gs pos="100000">
                  <a:srgbClr val="3B74C5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609600" y="0"/>
              <a:ext cx="805132" cy="1271840"/>
            </a:xfrm>
            <a:custGeom>
              <a:avLst/>
              <a:gdLst/>
              <a:ahLst/>
              <a:cxnLst/>
              <a:rect l="l" t="t" r="r" b="b"/>
              <a:pathLst>
                <a:path w="805132" h="1058174" extrusionOk="0">
                  <a:moveTo>
                    <a:pt x="5751" y="0"/>
                  </a:moveTo>
                  <a:lnTo>
                    <a:pt x="805132" y="258793"/>
                  </a:lnTo>
                  <a:lnTo>
                    <a:pt x="805132" y="1058174"/>
                  </a:lnTo>
                  <a:lnTo>
                    <a:pt x="0" y="948906"/>
                  </a:lnTo>
                  <a:lnTo>
                    <a:pt x="5751" y="0"/>
                  </a:lnTo>
                  <a:close/>
                </a:path>
              </a:pathLst>
            </a:custGeom>
            <a:solidFill>
              <a:srgbClr val="424298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350">
                <a:solidFill>
                  <a:schemeClr val="lt1"/>
                </a:solidFill>
                <a:latin typeface="IBM Plex Mono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"/>
            <p:cNvSpPr txBox="1"/>
            <p:nvPr/>
          </p:nvSpPr>
          <p:spPr>
            <a:xfrm>
              <a:off x="36871" y="431955"/>
              <a:ext cx="545691" cy="369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algn="ctr"/>
              <a:r>
                <a:rPr lang="en-US" sz="1350">
                  <a:solidFill>
                    <a:schemeClr val="lt1"/>
                  </a:solidFill>
                  <a:latin typeface="IBM Plex Mono"/>
                  <a:ea typeface="Open Sans ExtraBold"/>
                  <a:cs typeface="Open Sans ExtraBold"/>
                  <a:sym typeface="Open Sans ExtraBold"/>
                </a:rPr>
                <a:t>01</a:t>
              </a:r>
              <a:endParaRPr sz="1350">
                <a:latin typeface="IBM Plex Mono"/>
              </a:endParaRPr>
            </a:p>
          </p:txBody>
        </p:sp>
        <p:grpSp>
          <p:nvGrpSpPr>
            <p:cNvPr id="222" name="Google Shape;222;p1"/>
            <p:cNvGrpSpPr/>
            <p:nvPr/>
          </p:nvGrpSpPr>
          <p:grpSpPr>
            <a:xfrm>
              <a:off x="1343737" y="562344"/>
              <a:ext cx="1411352" cy="477886"/>
              <a:chOff x="1343737" y="562344"/>
              <a:chExt cx="1411352" cy="477886"/>
            </a:xfrm>
          </p:grpSpPr>
          <p:sp>
            <p:nvSpPr>
              <p:cNvPr id="223" name="Google Shape;223;p1"/>
              <p:cNvSpPr txBox="1"/>
              <p:nvPr/>
            </p:nvSpPr>
            <p:spPr>
              <a:xfrm>
                <a:off x="1343737" y="590337"/>
                <a:ext cx="1411352" cy="2974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34275" rIns="68569" bIns="34275" anchor="t" anchorCtr="0">
                <a:spAutoFit/>
              </a:bodyPr>
              <a:lstStyle/>
              <a:p>
                <a:r>
                  <a:rPr lang="en-US" sz="1000" dirty="0" err="1">
                    <a:solidFill>
                      <a:schemeClr val="bg1"/>
                    </a:solidFill>
                    <a:latin typeface="IBM Plex Mono" panose="020B0509050203000203" pitchFamily="49" charset="0"/>
                    <a:ea typeface="Open Sans SemiBold"/>
                    <a:cs typeface="Open Sans SemiBold"/>
                    <a:sym typeface="Open Sans SemiBold"/>
                  </a:rPr>
                  <a:t>Introducere</a:t>
                </a:r>
                <a:endParaRPr sz="1000" dirty="0">
                  <a:solidFill>
                    <a:schemeClr val="bg1"/>
                  </a:solidFill>
                  <a:latin typeface="IBM Plex Mono" panose="020B0509050203000203" pitchFamily="49" charset="0"/>
                </a:endParaRPr>
              </a:p>
            </p:txBody>
          </p:sp>
          <p:cxnSp>
            <p:nvCxnSpPr>
              <p:cNvPr id="225" name="Google Shape;225;p1"/>
              <p:cNvCxnSpPr/>
              <p:nvPr/>
            </p:nvCxnSpPr>
            <p:spPr>
              <a:xfrm>
                <a:off x="2616190" y="562344"/>
                <a:ext cx="0" cy="47788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226" name="Google Shape;226;p1"/>
          <p:cNvSpPr txBox="1"/>
          <p:nvPr/>
        </p:nvSpPr>
        <p:spPr>
          <a:xfrm>
            <a:off x="6984451" y="2143690"/>
            <a:ext cx="2477729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3300" dirty="0" err="1">
                <a:solidFill>
                  <a:schemeClr val="bg2"/>
                </a:solidFill>
                <a:latin typeface="IBM Plex Mono"/>
                <a:ea typeface="Open Sans ExtraBold"/>
                <a:cs typeface="Open Sans ExtraBold"/>
                <a:sym typeface="Open Sans ExtraBold"/>
              </a:rPr>
              <a:t>Cuprins</a:t>
            </a:r>
            <a:endParaRPr sz="1350" dirty="0">
              <a:solidFill>
                <a:schemeClr val="bg2"/>
              </a:solidFill>
              <a:latin typeface="IBM Plex Mono"/>
            </a:endParaRP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357" y="2261211"/>
            <a:ext cx="320233" cy="320233"/>
          </a:xfrm>
          <a:prstGeom prst="rect">
            <a:avLst/>
          </a:prstGeom>
        </p:spPr>
      </p:pic>
      <p:sp>
        <p:nvSpPr>
          <p:cNvPr id="79" name="Google Shape;212;p1"/>
          <p:cNvSpPr txBox="1"/>
          <p:nvPr/>
        </p:nvSpPr>
        <p:spPr>
          <a:xfrm>
            <a:off x="1019596" y="2552970"/>
            <a:ext cx="9949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ro-RO" sz="1000" dirty="0">
                <a:solidFill>
                  <a:schemeClr val="bg1"/>
                </a:solidFill>
                <a:latin typeface="IBM Plex Mono"/>
              </a:rPr>
              <a:t>Nivelul de </a:t>
            </a:r>
          </a:p>
          <a:p>
            <a:r>
              <a:rPr lang="ro-RO" sz="1000" dirty="0">
                <a:solidFill>
                  <a:schemeClr val="bg1"/>
                </a:solidFill>
                <a:latin typeface="IBM Plex Mono"/>
              </a:rPr>
              <a:t>comunicare</a:t>
            </a:r>
            <a:endParaRPr lang="en-US" sz="1000" dirty="0">
              <a:solidFill>
                <a:schemeClr val="bg1"/>
              </a:solidFill>
              <a:latin typeface="IBM Plex Mono"/>
            </a:endParaRPr>
          </a:p>
        </p:txBody>
      </p:sp>
      <p:sp>
        <p:nvSpPr>
          <p:cNvPr id="80" name="Google Shape;213;p1"/>
          <p:cNvSpPr txBox="1"/>
          <p:nvPr/>
        </p:nvSpPr>
        <p:spPr>
          <a:xfrm>
            <a:off x="2011476" y="408225"/>
            <a:ext cx="3586433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IBM Plex Mono"/>
              </a:rPr>
              <a:t>Conceptul de Testare Automată (ATE) </a:t>
            </a:r>
          </a:p>
          <a:p>
            <a:r>
              <a:rPr lang="ro-RO" sz="1100" dirty="0">
                <a:solidFill>
                  <a:schemeClr val="bg1"/>
                </a:solidFill>
                <a:latin typeface="IBM Plex Mono"/>
              </a:rPr>
              <a:t>ș</a:t>
            </a:r>
            <a:r>
              <a:rPr lang="pt-BR" sz="1100" dirty="0">
                <a:solidFill>
                  <a:schemeClr val="bg1"/>
                </a:solidFill>
                <a:latin typeface="IBM Plex Mono"/>
              </a:rPr>
              <a:t>i obiective.</a:t>
            </a:r>
            <a:endParaRPr sz="1100" dirty="0">
              <a:solidFill>
                <a:schemeClr val="bg1"/>
              </a:solidFill>
              <a:latin typeface="IBM Plex Mono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491" y="388976"/>
            <a:ext cx="358342" cy="3583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357" y="1884570"/>
            <a:ext cx="308720" cy="3087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695" y="1157087"/>
            <a:ext cx="352360" cy="3523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7938" y="3285734"/>
            <a:ext cx="328145" cy="3281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270" y="4097999"/>
            <a:ext cx="274320" cy="2743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1933" y="2642440"/>
            <a:ext cx="285272" cy="2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2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22" y="3699762"/>
            <a:ext cx="1171613" cy="151086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569" y="2802154"/>
            <a:ext cx="1981200" cy="19812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22" y="2582804"/>
            <a:ext cx="1171613" cy="1347885"/>
          </a:xfrm>
          <a:prstGeom prst="rect">
            <a:avLst/>
          </a:prstGeom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Introducere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IBM Plex Mono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27" y="532835"/>
            <a:ext cx="320233" cy="320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5881" y="1193006"/>
            <a:ext cx="5258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IBM Plex Mono"/>
              </a:rPr>
              <a:t>Ce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este</a:t>
            </a:r>
            <a:r>
              <a:rPr lang="en-US" dirty="0">
                <a:latin typeface="IBM Plex Mono"/>
              </a:rPr>
              <a:t> un </a:t>
            </a:r>
            <a:r>
              <a:rPr lang="ro-RO" dirty="0">
                <a:latin typeface="IBM Plex Mono"/>
              </a:rPr>
              <a:t>Echipament de testare automată</a:t>
            </a:r>
            <a:r>
              <a:rPr lang="en-US" dirty="0">
                <a:latin typeface="IBM Plex Mono"/>
              </a:rPr>
              <a:t>(ATE)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1188482"/>
            <a:ext cx="373856" cy="3738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3960" y="1723919"/>
            <a:ext cx="76247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IBM Plex Mono"/>
              </a:rPr>
              <a:t>Un </a:t>
            </a:r>
            <a:r>
              <a:rPr lang="en-US" dirty="0" err="1">
                <a:latin typeface="IBM Plex Mono"/>
              </a:rPr>
              <a:t>echipament</a:t>
            </a:r>
            <a:r>
              <a:rPr lang="en-US" dirty="0">
                <a:latin typeface="IBM Plex Mono"/>
              </a:rPr>
              <a:t> de </a:t>
            </a:r>
            <a:r>
              <a:rPr lang="en-US" dirty="0" err="1">
                <a:latin typeface="IBM Plex Mono"/>
              </a:rPr>
              <a:t>testare</a:t>
            </a:r>
            <a:r>
              <a:rPr lang="en-US" dirty="0">
                <a:latin typeface="IBM Plex Mono"/>
              </a:rPr>
              <a:t> automat</a:t>
            </a:r>
            <a:r>
              <a:rPr lang="ro-RO" dirty="0">
                <a:latin typeface="IBM Plex Mono"/>
              </a:rPr>
              <a:t>ă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este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ansamblu</a:t>
            </a:r>
            <a:r>
              <a:rPr lang="en-US" dirty="0">
                <a:latin typeface="IBM Plex Mono"/>
              </a:rPr>
              <a:t> hardware-software </a:t>
            </a:r>
            <a:r>
              <a:rPr lang="en-US" dirty="0" err="1">
                <a:latin typeface="IBM Plex Mono"/>
              </a:rPr>
              <a:t>ce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măsoară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și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verifică</a:t>
            </a:r>
            <a:r>
              <a:rPr lang="en-US" dirty="0">
                <a:latin typeface="IBM Plex Mono"/>
              </a:rPr>
              <a:t> automat </a:t>
            </a:r>
            <a:r>
              <a:rPr lang="en-US" dirty="0" err="1">
                <a:latin typeface="IBM Plex Mono"/>
              </a:rPr>
              <a:t>conformitatea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componentelor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electronice</a:t>
            </a:r>
            <a:r>
              <a:rPr lang="en-US" dirty="0">
                <a:latin typeface="IBM Plex Mono"/>
              </a:rPr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8178" y="3930689"/>
            <a:ext cx="819300" cy="819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7456" y="2671157"/>
            <a:ext cx="940744" cy="9407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6499" y="3114700"/>
            <a:ext cx="1109663" cy="11096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331721" y="3468930"/>
            <a:ext cx="1071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IBM Plex Mono"/>
              </a:rPr>
              <a:t>POWERSUPLY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16231" y="4738601"/>
            <a:ext cx="1071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IBM Plex Mono"/>
              </a:rPr>
              <a:t>MULTIMETER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3297" y="4224363"/>
            <a:ext cx="1071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IBM Plex Mono"/>
              </a:rPr>
              <a:t>PC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651498" y="3453936"/>
            <a:ext cx="677636" cy="6776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732" y="2131693"/>
            <a:ext cx="1852612" cy="185261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525" y="2213096"/>
            <a:ext cx="1852612" cy="18526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09" y="2243987"/>
            <a:ext cx="1852612" cy="1852612"/>
          </a:xfrm>
          <a:prstGeom prst="rect">
            <a:avLst/>
          </a:prstGeom>
        </p:spPr>
      </p:pic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Introducere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IBM Plex Mono"/>
            </a:endParaRPr>
          </a:p>
        </p:txBody>
      </p:sp>
      <p:grpSp>
        <p:nvGrpSpPr>
          <p:cNvPr id="247" name="Google Shape;1533;p39"/>
          <p:cNvGrpSpPr/>
          <p:nvPr/>
        </p:nvGrpSpPr>
        <p:grpSpPr>
          <a:xfrm>
            <a:off x="-7626" y="4363896"/>
            <a:ext cx="4558680" cy="1140480"/>
            <a:chOff x="-123840" y="4132440"/>
            <a:chExt cx="4558680" cy="1140480"/>
          </a:xfrm>
        </p:grpSpPr>
        <p:grpSp>
          <p:nvGrpSpPr>
            <p:cNvPr id="248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249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  <p:sp>
            <p:nvSpPr>
              <p:cNvPr id="250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</p:grpSp>
        <p:grpSp>
          <p:nvGrpSpPr>
            <p:cNvPr id="251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252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  <p:cxnSp>
            <p:nvCxnSpPr>
              <p:cNvPr id="253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254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IBM Plex Mono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27" y="532835"/>
            <a:ext cx="320233" cy="3202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4404" y="1004540"/>
            <a:ext cx="8345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BM Plex Mono"/>
              </a:rPr>
              <a:t>	</a:t>
            </a:r>
            <a:r>
              <a:rPr lang="en-US" dirty="0" err="1">
                <a:latin typeface="IBM Plex Mono"/>
              </a:rPr>
              <a:t>Utilitate</a:t>
            </a:r>
            <a:r>
              <a:rPr lang="en-US" dirty="0">
                <a:latin typeface="IBM Plex Mono"/>
              </a:rPr>
              <a:t>: </a:t>
            </a:r>
            <a:r>
              <a:rPr lang="en-US" dirty="0" err="1">
                <a:latin typeface="IBM Plex Mono"/>
              </a:rPr>
              <a:t>verificarea</a:t>
            </a:r>
            <a:r>
              <a:rPr lang="en-US" dirty="0">
                <a:latin typeface="IBM Plex Mono"/>
              </a:rPr>
              <a:t> rapid</a:t>
            </a:r>
            <a:r>
              <a:rPr lang="ro-RO" dirty="0">
                <a:latin typeface="IBM Plex Mono"/>
              </a:rPr>
              <a:t>ă</a:t>
            </a:r>
            <a:r>
              <a:rPr lang="en-US" dirty="0">
                <a:latin typeface="IBM Plex Mono"/>
              </a:rPr>
              <a:t> a </a:t>
            </a:r>
            <a:r>
              <a:rPr lang="en-US" dirty="0" err="1">
                <a:latin typeface="IBM Plex Mono"/>
              </a:rPr>
              <a:t>unui</a:t>
            </a:r>
            <a:r>
              <a:rPr lang="en-US" dirty="0">
                <a:latin typeface="IBM Plex Mono"/>
              </a:rPr>
              <a:t> lot de </a:t>
            </a:r>
            <a:r>
              <a:rPr lang="en-US" dirty="0" err="1">
                <a:latin typeface="IBM Plex Mono"/>
              </a:rPr>
              <a:t>componente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pentru</a:t>
            </a:r>
            <a:r>
              <a:rPr lang="en-US" dirty="0">
                <a:latin typeface="IBM Plex Mono"/>
              </a:rPr>
              <a:t> a </a:t>
            </a:r>
            <a:r>
              <a:rPr lang="en-US" dirty="0" err="1">
                <a:latin typeface="IBM Plex Mono"/>
              </a:rPr>
              <a:t>vedea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dacă</a:t>
            </a:r>
            <a:r>
              <a:rPr lang="en-US" dirty="0">
                <a:latin typeface="IBM Plex Mono"/>
              </a:rPr>
              <a:t> se </a:t>
            </a:r>
            <a:r>
              <a:rPr lang="en-US" dirty="0" err="1">
                <a:latin typeface="IBM Plex Mono"/>
              </a:rPr>
              <a:t>încadrează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în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specifica</a:t>
            </a:r>
            <a:r>
              <a:rPr lang="ro-RO" dirty="0">
                <a:latin typeface="IBM Plex Mono"/>
              </a:rPr>
              <a:t>ț</a:t>
            </a:r>
            <a:r>
              <a:rPr lang="en-US" dirty="0" err="1">
                <a:latin typeface="IBM Plex Mono"/>
              </a:rPr>
              <a:t>ile</a:t>
            </a:r>
            <a:r>
              <a:rPr lang="en-US" dirty="0">
                <a:latin typeface="IBM Plex Mono"/>
              </a:rPr>
              <a:t> din </a:t>
            </a:r>
            <a:r>
              <a:rPr lang="en-US" i="1" dirty="0">
                <a:latin typeface="IBM Plex Mono"/>
              </a:rPr>
              <a:t>datasheet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sau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dac</a:t>
            </a:r>
            <a:r>
              <a:rPr lang="ro-RO" dirty="0">
                <a:latin typeface="IBM Plex Mono"/>
              </a:rPr>
              <a:t>ă</a:t>
            </a:r>
            <a:r>
              <a:rPr lang="en-US" dirty="0">
                <a:latin typeface="IBM Plex Mono"/>
              </a:rPr>
              <a:t> exist</a:t>
            </a:r>
            <a:r>
              <a:rPr lang="ro-RO" dirty="0">
                <a:latin typeface="IBM Plex Mono"/>
              </a:rPr>
              <a:t>ă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componente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contrafăcute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sau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degradate</a:t>
            </a:r>
            <a:r>
              <a:rPr lang="en-US" dirty="0">
                <a:latin typeface="IBM Plex Mono"/>
              </a:rPr>
              <a:t> in lot.</a:t>
            </a:r>
          </a:p>
          <a:p>
            <a:endParaRPr lang="en-US" dirty="0">
              <a:latin typeface="IBM Plex Mono"/>
            </a:endParaRPr>
          </a:p>
          <a:p>
            <a:endParaRPr lang="en-US" dirty="0">
              <a:latin typeface="IBM Plex Mon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7" y="1031006"/>
            <a:ext cx="318274" cy="3182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244" y="2768337"/>
            <a:ext cx="60960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494" y="2816926"/>
            <a:ext cx="644951" cy="6449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488" y="2774059"/>
            <a:ext cx="693192" cy="6931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0945" y="2800505"/>
            <a:ext cx="644951" cy="64495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4498" y="2798179"/>
            <a:ext cx="644951" cy="6449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271"/>
          <p:cNvSpPr/>
          <p:nvPr/>
        </p:nvSpPr>
        <p:spPr>
          <a:xfrm>
            <a:off x="383411" y="140524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</a:rPr>
              <a:t>Configura</a:t>
            </a:r>
            <a:r>
              <a:rPr lang="ro-RO" sz="3000" b="1" dirty="0">
                <a:solidFill>
                  <a:schemeClr val="dk2"/>
                </a:solidFill>
                <a:latin typeface="IBM Plex Mono"/>
              </a:rPr>
              <a:t>ț</a:t>
            </a: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</a:rPr>
              <a:t>ie</a:t>
            </a:r>
            <a:r>
              <a:rPr lang="en-US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 experimental</a:t>
            </a:r>
            <a:r>
              <a:rPr lang="ro-RO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ă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IBM Plex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9509" y="1092724"/>
            <a:ext cx="577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bg2"/>
                </a:solidFill>
                <a:latin typeface="IBM Plex Mono"/>
              </a:rPr>
              <a:t>Schem</a:t>
            </a:r>
            <a:r>
              <a:rPr lang="ro-RO" sz="1600" b="1" dirty="0">
                <a:solidFill>
                  <a:schemeClr val="bg2"/>
                </a:solidFill>
                <a:latin typeface="IBM Plex Mono"/>
              </a:rPr>
              <a:t>ă simplificată de testare a diodei</a:t>
            </a:r>
            <a:endParaRPr lang="en-US" sz="1600" b="1" dirty="0">
              <a:solidFill>
                <a:schemeClr val="bg2"/>
              </a:solidFill>
              <a:latin typeface="IBM Plex Mono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1830805"/>
            <a:ext cx="5974080" cy="31570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Arhitectura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sistemului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IBM Plex Mono"/>
            </a:endParaRPr>
          </a:p>
        </p:txBody>
      </p:sp>
      <p:grpSp>
        <p:nvGrpSpPr>
          <p:cNvPr id="261" name="Google Shape;1533;p39"/>
          <p:cNvGrpSpPr/>
          <p:nvPr/>
        </p:nvGrpSpPr>
        <p:grpSpPr>
          <a:xfrm>
            <a:off x="0" y="4461053"/>
            <a:ext cx="4558680" cy="1140480"/>
            <a:chOff x="-123840" y="4132440"/>
            <a:chExt cx="4558680" cy="1140480"/>
          </a:xfrm>
        </p:grpSpPr>
        <p:grpSp>
          <p:nvGrpSpPr>
            <p:cNvPr id="262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263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  <p:sp>
            <p:nvSpPr>
              <p:cNvPr id="264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</p:grpSp>
        <p:grpSp>
          <p:nvGrpSpPr>
            <p:cNvPr id="265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266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  <p:cxnSp>
            <p:nvCxnSpPr>
              <p:cNvPr id="267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268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IBM Plex Mono"/>
                </a:endParaRPr>
              </a:p>
            </p:txBody>
          </p:sp>
        </p:grpSp>
      </p:grpSp>
      <p:grpSp>
        <p:nvGrpSpPr>
          <p:cNvPr id="269" name="Group 268"/>
          <p:cNvGrpSpPr/>
          <p:nvPr/>
        </p:nvGrpSpPr>
        <p:grpSpPr>
          <a:xfrm>
            <a:off x="723960" y="1333113"/>
            <a:ext cx="3901165" cy="2766350"/>
            <a:chOff x="723960" y="1333113"/>
            <a:chExt cx="3901165" cy="2766350"/>
          </a:xfrm>
        </p:grpSpPr>
        <p:sp>
          <p:nvSpPr>
            <p:cNvPr id="10" name="Rounded Rectangle 9"/>
            <p:cNvSpPr/>
            <p:nvPr/>
          </p:nvSpPr>
          <p:spPr>
            <a:xfrm>
              <a:off x="2151883" y="3444964"/>
              <a:ext cx="2473242" cy="342220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IBM Plex Mono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23960" y="1333113"/>
              <a:ext cx="3060962" cy="276635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IBM Plex Mono"/>
              </a:endParaRPr>
            </a:p>
          </p:txBody>
        </p:sp>
      </p:grpSp>
      <p:grpSp>
        <p:nvGrpSpPr>
          <p:cNvPr id="257" name="Group 256"/>
          <p:cNvGrpSpPr/>
          <p:nvPr/>
        </p:nvGrpSpPr>
        <p:grpSpPr>
          <a:xfrm>
            <a:off x="1042288" y="1545739"/>
            <a:ext cx="3582837" cy="2224223"/>
            <a:chOff x="4313946" y="826831"/>
            <a:chExt cx="3582837" cy="2224223"/>
          </a:xfrm>
        </p:grpSpPr>
        <p:sp>
          <p:nvSpPr>
            <p:cNvPr id="191" name="Rounded Rectangle 190"/>
            <p:cNvSpPr/>
            <p:nvPr/>
          </p:nvSpPr>
          <p:spPr>
            <a:xfrm>
              <a:off x="5423541" y="2203335"/>
              <a:ext cx="2473242" cy="34222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IBM Plex Mono"/>
              </a:endParaRPr>
            </a:p>
          </p:txBody>
        </p:sp>
        <p:sp>
          <p:nvSpPr>
            <p:cNvPr id="185" name="Oval 184"/>
            <p:cNvSpPr/>
            <p:nvPr/>
          </p:nvSpPr>
          <p:spPr>
            <a:xfrm>
              <a:off x="4313946" y="826831"/>
              <a:ext cx="2431937" cy="222422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IBM Plex Mono"/>
              </a:endParaRPr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1404927" y="1809321"/>
            <a:ext cx="3220198" cy="1571336"/>
            <a:chOff x="4921314" y="2928029"/>
            <a:chExt cx="3220198" cy="1571336"/>
          </a:xfrm>
        </p:grpSpPr>
        <p:sp>
          <p:nvSpPr>
            <p:cNvPr id="190" name="Rounded Rectangle 189"/>
            <p:cNvSpPr/>
            <p:nvPr/>
          </p:nvSpPr>
          <p:spPr>
            <a:xfrm>
              <a:off x="5668270" y="3565652"/>
              <a:ext cx="2473242" cy="342220"/>
            </a:xfrm>
            <a:prstGeom prst="roundRect">
              <a:avLst/>
            </a:prstGeom>
            <a:solidFill>
              <a:schemeClr val="bg1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IBM Plex Mono"/>
              </a:endParaRPr>
            </a:p>
          </p:txBody>
        </p:sp>
        <p:sp>
          <p:nvSpPr>
            <p:cNvPr id="186" name="Oval 185"/>
            <p:cNvSpPr/>
            <p:nvPr/>
          </p:nvSpPr>
          <p:spPr>
            <a:xfrm>
              <a:off x="4921314" y="2928029"/>
              <a:ext cx="1748929" cy="1571336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IBM Plex Mono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674435" y="2014618"/>
            <a:ext cx="2958842" cy="1078735"/>
            <a:chOff x="4958591" y="1597136"/>
            <a:chExt cx="2958842" cy="1078735"/>
          </a:xfrm>
        </p:grpSpPr>
        <p:sp>
          <p:nvSpPr>
            <p:cNvPr id="192" name="Rounded Rectangle 191"/>
            <p:cNvSpPr/>
            <p:nvPr/>
          </p:nvSpPr>
          <p:spPr>
            <a:xfrm>
              <a:off x="5444191" y="1597316"/>
              <a:ext cx="2473242" cy="34222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IBM Plex Mono"/>
              </a:endParaRPr>
            </a:p>
          </p:txBody>
        </p:sp>
        <p:sp>
          <p:nvSpPr>
            <p:cNvPr id="187" name="Oval 186"/>
            <p:cNvSpPr/>
            <p:nvPr/>
          </p:nvSpPr>
          <p:spPr>
            <a:xfrm>
              <a:off x="4958591" y="1597136"/>
              <a:ext cx="1189604" cy="1078735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IBM Plex Mono"/>
              </a:endParaRPr>
            </a:p>
          </p:txBody>
        </p:sp>
      </p:grpSp>
      <p:sp>
        <p:nvSpPr>
          <p:cNvPr id="271" name="Rounded Rectangle 270"/>
          <p:cNvSpPr/>
          <p:nvPr/>
        </p:nvSpPr>
        <p:spPr>
          <a:xfrm>
            <a:off x="5527040" y="1191438"/>
            <a:ext cx="2499360" cy="651081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Mono"/>
            </a:endParaRPr>
          </a:p>
        </p:txBody>
      </p:sp>
      <p:sp>
        <p:nvSpPr>
          <p:cNvPr id="211" name="Rounded Rectangle 210"/>
          <p:cNvSpPr/>
          <p:nvPr/>
        </p:nvSpPr>
        <p:spPr>
          <a:xfrm>
            <a:off x="5527040" y="1994992"/>
            <a:ext cx="2499360" cy="651081"/>
          </a:xfrm>
          <a:prstGeom prst="round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Mono"/>
            </a:endParaRPr>
          </a:p>
        </p:txBody>
      </p:sp>
      <p:sp>
        <p:nvSpPr>
          <p:cNvPr id="212" name="Rounded Rectangle 211"/>
          <p:cNvSpPr/>
          <p:nvPr/>
        </p:nvSpPr>
        <p:spPr>
          <a:xfrm>
            <a:off x="5527040" y="2800967"/>
            <a:ext cx="2499360" cy="6510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Mono"/>
            </a:endParaRPr>
          </a:p>
        </p:txBody>
      </p:sp>
      <p:sp>
        <p:nvSpPr>
          <p:cNvPr id="213" name="Rounded Rectangle 212"/>
          <p:cNvSpPr/>
          <p:nvPr/>
        </p:nvSpPr>
        <p:spPr>
          <a:xfrm>
            <a:off x="5527040" y="3606942"/>
            <a:ext cx="2499360" cy="65108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Mono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6089844" y="3567924"/>
            <a:ext cx="1381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IBM Plex Mono"/>
              </a:rPr>
              <a:t>Nivelul</a:t>
            </a:r>
            <a:r>
              <a:rPr lang="en-US" sz="1400" dirty="0">
                <a:latin typeface="IBM Plex Mono"/>
              </a:rPr>
              <a:t> </a:t>
            </a:r>
            <a:r>
              <a:rPr lang="en-US" sz="1400" dirty="0" err="1">
                <a:latin typeface="IBM Plex Mono"/>
              </a:rPr>
              <a:t>fizic</a:t>
            </a:r>
            <a:endParaRPr lang="en-US" sz="1400" dirty="0">
              <a:latin typeface="IBM Plex Mono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5859242" y="2781595"/>
            <a:ext cx="2062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IBM Plex Mono"/>
              </a:rPr>
              <a:t>Nivelul</a:t>
            </a:r>
            <a:r>
              <a:rPr lang="en-US" sz="1400" dirty="0">
                <a:latin typeface="IBM Plex Mono"/>
              </a:rPr>
              <a:t> de </a:t>
            </a:r>
            <a:r>
              <a:rPr lang="en-US" sz="1400" dirty="0" err="1">
                <a:latin typeface="IBM Plex Mono"/>
              </a:rPr>
              <a:t>comunicare</a:t>
            </a:r>
            <a:endParaRPr lang="en-US" sz="1400" dirty="0">
              <a:latin typeface="IBM Plex Mono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6141720" y="2005273"/>
            <a:ext cx="1381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IBM Plex Mono"/>
              </a:rPr>
              <a:t>Nivelul</a:t>
            </a:r>
            <a:r>
              <a:rPr lang="en-US" sz="1400" dirty="0">
                <a:latin typeface="IBM Plex Mono"/>
              </a:rPr>
              <a:t> logic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199440" y="1190274"/>
            <a:ext cx="1381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IBM Plex Mono"/>
              </a:rPr>
              <a:t>Prezentare</a:t>
            </a:r>
            <a:endParaRPr lang="en-US" sz="1400" dirty="0">
              <a:latin typeface="IBM Plex Mono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5679440" y="1474170"/>
            <a:ext cx="197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IBM Plex Mono"/>
              </a:rPr>
              <a:t>Interfa</a:t>
            </a:r>
            <a:r>
              <a:rPr lang="ro-RO" sz="1200" dirty="0">
                <a:latin typeface="IBM Plex Mono"/>
              </a:rPr>
              <a:t>ț</a:t>
            </a:r>
            <a:r>
              <a:rPr lang="en-US" sz="1200" dirty="0">
                <a:latin typeface="IBM Plex Mono"/>
              </a:rPr>
              <a:t>a </a:t>
            </a:r>
            <a:r>
              <a:rPr lang="en-US" sz="1200" dirty="0" err="1">
                <a:latin typeface="IBM Plex Mono"/>
              </a:rPr>
              <a:t>grafica</a:t>
            </a:r>
            <a:r>
              <a:rPr lang="en-US" sz="1200" dirty="0">
                <a:latin typeface="IBM Plex Mono"/>
              </a:rPr>
              <a:t> (XAML)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513862" y="2227219"/>
            <a:ext cx="2587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IBM Plex Mono"/>
              </a:rPr>
              <a:t>Nucleul</a:t>
            </a:r>
            <a:r>
              <a:rPr lang="en-US" sz="1200" dirty="0">
                <a:latin typeface="IBM Plex Mono"/>
              </a:rPr>
              <a:t> </a:t>
            </a:r>
            <a:r>
              <a:rPr lang="en-US" sz="1200" dirty="0" err="1">
                <a:latin typeface="IBM Plex Mono"/>
              </a:rPr>
              <a:t>aplica</a:t>
            </a:r>
            <a:r>
              <a:rPr lang="ro-RO" sz="1200" dirty="0">
                <a:latin typeface="IBM Plex Mono"/>
              </a:rPr>
              <a:t>ț</a:t>
            </a:r>
            <a:r>
              <a:rPr lang="en-US" sz="1200" dirty="0" err="1">
                <a:latin typeface="IBM Plex Mono"/>
              </a:rPr>
              <a:t>iei</a:t>
            </a:r>
            <a:r>
              <a:rPr lang="en-US" sz="1200" dirty="0">
                <a:latin typeface="IBM Plex Mono"/>
              </a:rPr>
              <a:t> (C#) care </a:t>
            </a:r>
            <a:r>
              <a:rPr lang="en-US" sz="1200" dirty="0" err="1">
                <a:latin typeface="IBM Plex Mono"/>
              </a:rPr>
              <a:t>execut</a:t>
            </a:r>
            <a:r>
              <a:rPr lang="ro-RO" sz="1200" dirty="0">
                <a:latin typeface="IBM Plex Mono"/>
              </a:rPr>
              <a:t>ă</a:t>
            </a:r>
            <a:endParaRPr lang="en-US" sz="1200" dirty="0">
              <a:latin typeface="IBM Plex Mono"/>
            </a:endParaRPr>
          </a:p>
          <a:p>
            <a:r>
              <a:rPr lang="en-US" sz="1200" dirty="0" err="1">
                <a:latin typeface="IBM Plex Mono"/>
              </a:rPr>
              <a:t>achiziția</a:t>
            </a:r>
            <a:r>
              <a:rPr lang="en-US" sz="1200" dirty="0">
                <a:latin typeface="IBM Plex Mono"/>
              </a:rPr>
              <a:t> </a:t>
            </a:r>
            <a:r>
              <a:rPr lang="en-US" sz="1200" dirty="0" err="1">
                <a:latin typeface="IBM Plex Mono"/>
              </a:rPr>
              <a:t>datelor</a:t>
            </a:r>
            <a:r>
              <a:rPr lang="en-US" sz="1200" dirty="0">
                <a:latin typeface="IBM Plex Mono"/>
              </a:rPr>
              <a:t> </a:t>
            </a:r>
            <a:r>
              <a:rPr lang="en-US" sz="1200" dirty="0" err="1">
                <a:latin typeface="IBM Plex Mono"/>
              </a:rPr>
              <a:t>și</a:t>
            </a:r>
            <a:r>
              <a:rPr lang="en-US" sz="1200" dirty="0">
                <a:latin typeface="IBM Plex Mono"/>
              </a:rPr>
              <a:t> </a:t>
            </a:r>
            <a:r>
              <a:rPr lang="en-US" sz="1200" dirty="0" err="1">
                <a:latin typeface="IBM Plex Mono"/>
              </a:rPr>
              <a:t>procesarea</a:t>
            </a:r>
            <a:r>
              <a:rPr lang="en-US" sz="1200" dirty="0">
                <a:latin typeface="IBM Plex Mono"/>
              </a:rPr>
              <a:t> </a:t>
            </a:r>
            <a:r>
              <a:rPr lang="en-US" sz="1200" dirty="0" err="1">
                <a:latin typeface="IBM Plex Mono"/>
              </a:rPr>
              <a:t>lor</a:t>
            </a:r>
            <a:endParaRPr lang="en-US" sz="1200" dirty="0">
              <a:latin typeface="IBM Plex Mono"/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4236039" y="3444964"/>
            <a:ext cx="397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BM Plex Mono"/>
              </a:rPr>
              <a:t>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262166" y="2924507"/>
            <a:ext cx="397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BM Plex Mono"/>
              </a:rPr>
              <a:t>2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245042" y="2438485"/>
            <a:ext cx="397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BM Plex Mono"/>
              </a:rPr>
              <a:t>3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256381" y="1983132"/>
            <a:ext cx="397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BM Plex Mono"/>
              </a:rPr>
              <a:t>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481889" y="3006395"/>
            <a:ext cx="2816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BM Plex Mono"/>
              </a:rPr>
              <a:t>SCPI / VISA:</a:t>
            </a:r>
            <a:r>
              <a:rPr lang="ro-RO" sz="1200" dirty="0">
                <a:latin typeface="IBM Plex Mono"/>
              </a:rPr>
              <a:t> </a:t>
            </a:r>
            <a:r>
              <a:rPr lang="en-US" sz="1200" dirty="0" err="1">
                <a:latin typeface="IBM Plex Mono"/>
              </a:rPr>
              <a:t>protocolul</a:t>
            </a:r>
            <a:r>
              <a:rPr lang="en-US" sz="1200" dirty="0">
                <a:latin typeface="IBM Plex Mono"/>
              </a:rPr>
              <a:t> de</a:t>
            </a:r>
          </a:p>
          <a:p>
            <a:r>
              <a:rPr lang="en-US" sz="1200" dirty="0" err="1">
                <a:latin typeface="IBM Plex Mono"/>
              </a:rPr>
              <a:t>comunicare</a:t>
            </a:r>
            <a:r>
              <a:rPr lang="en-US" sz="1200" dirty="0">
                <a:latin typeface="IBM Plex Mono"/>
              </a:rPr>
              <a:t> </a:t>
            </a:r>
            <a:r>
              <a:rPr lang="en-US" sz="1200" dirty="0" err="1">
                <a:latin typeface="IBM Plex Mono"/>
              </a:rPr>
              <a:t>dintre</a:t>
            </a:r>
            <a:r>
              <a:rPr lang="en-US" sz="1200" dirty="0">
                <a:latin typeface="IBM Plex Mono"/>
              </a:rPr>
              <a:t> PC </a:t>
            </a:r>
            <a:r>
              <a:rPr lang="ro-RO" sz="1200" dirty="0" err="1">
                <a:latin typeface="IBM Plex Mono"/>
              </a:rPr>
              <a:t>ș</a:t>
            </a:r>
            <a:r>
              <a:rPr lang="en-US" sz="1200" dirty="0" err="1">
                <a:latin typeface="IBM Plex Mono"/>
              </a:rPr>
              <a:t>i</a:t>
            </a:r>
            <a:r>
              <a:rPr lang="en-US" sz="1200" dirty="0">
                <a:latin typeface="IBM Plex Mono"/>
              </a:rPr>
              <a:t> </a:t>
            </a:r>
            <a:r>
              <a:rPr lang="en-US" sz="1200" dirty="0" err="1">
                <a:latin typeface="IBM Plex Mono"/>
              </a:rPr>
              <a:t>instrumente</a:t>
            </a:r>
            <a:endParaRPr lang="en-US" sz="1200" dirty="0">
              <a:latin typeface="IBM Plex Mon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15703" y="3850546"/>
            <a:ext cx="2549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BM Plex Mono"/>
              </a:rPr>
              <a:t>HMC8043 , HMC8012, DUT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" grpId="0" animBg="1"/>
      <p:bldP spid="211" grpId="0" animBg="1"/>
      <p:bldP spid="212" grpId="0" animBg="1"/>
      <p:bldP spid="213" grpId="0" animBg="1"/>
      <p:bldP spid="272" grpId="0"/>
      <p:bldP spid="216" grpId="0"/>
      <p:bldP spid="217" grpId="0"/>
      <p:bldP spid="218" grpId="0"/>
      <p:bldP spid="273" grpId="0"/>
      <p:bldP spid="220" grpId="0"/>
      <p:bldP spid="274" grpId="0"/>
      <p:bldP spid="223" grpId="0"/>
      <p:bldP spid="224" grpId="0"/>
      <p:bldP spid="225" grpId="0"/>
      <p:bldP spid="226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68"/>
          <p:cNvSpPr/>
          <p:nvPr/>
        </p:nvSpPr>
        <p:spPr>
          <a:xfrm>
            <a:off x="489666" y="1947908"/>
            <a:ext cx="397380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	   </a:t>
            </a:r>
            <a:r>
              <a:rPr lang="en-US" b="1" u="none" strike="noStrike" dirty="0">
                <a:effectLst/>
                <a:uFillTx/>
                <a:latin typeface="IBM Plex Mono"/>
              </a:rPr>
              <a:t>R&amp;S HMC8043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o-RO" sz="1200" b="1" dirty="0">
                <a:latin typeface="IBM Plex Mono"/>
              </a:rPr>
              <a:t>SURSĂ DE TENSIUNE PROGRAMABILĂ</a:t>
            </a:r>
            <a:endParaRPr lang="en-US" sz="1200" b="0" u="none" strike="noStrike" dirty="0">
              <a:effectLst/>
              <a:uFillTx/>
              <a:latin typeface="IBM Plex Mono"/>
            </a:endParaRPr>
          </a:p>
        </p:txBody>
      </p:sp>
      <p:pic>
        <p:nvPicPr>
          <p:cNvPr id="1028" name="Picture 4" descr="Rohde &amp; Schwarz HMC804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545" y="952380"/>
            <a:ext cx="4021455" cy="323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96600" y="27512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Arhitectura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sistemului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IBM Plex Mono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61415" y="2621168"/>
            <a:ext cx="31417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IBM Plex Mono"/>
              </a:rPr>
              <a:t>3 </a:t>
            </a:r>
            <a:r>
              <a:rPr lang="ro-RO" sz="1400" dirty="0">
                <a:latin typeface="IBM Plex Mono"/>
              </a:rPr>
              <a:t>Canale independente</a:t>
            </a:r>
            <a:r>
              <a:rPr lang="en-US" sz="1400" dirty="0">
                <a:latin typeface="IBM Plex Mono"/>
              </a:rPr>
              <a:t> (0-32V, 0-3</a:t>
            </a:r>
            <a:r>
              <a:rPr lang="az-Cyrl-AZ" sz="1400" dirty="0">
                <a:latin typeface="IBM Plex Mono"/>
              </a:rPr>
              <a:t>А)</a:t>
            </a:r>
            <a:endParaRPr lang="en-US" sz="1400" dirty="0">
              <a:latin typeface="IBM Plex Mono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1415" y="3013885"/>
            <a:ext cx="35509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400" dirty="0">
                <a:latin typeface="IBM Plex Mono"/>
              </a:rPr>
              <a:t>Comenzi </a:t>
            </a:r>
            <a:r>
              <a:rPr lang="en-US" sz="1400" dirty="0">
                <a:latin typeface="IBM Plex Mono"/>
              </a:rPr>
              <a:t>SCPI</a:t>
            </a:r>
            <a:r>
              <a:rPr lang="ro-RO" sz="1400" dirty="0">
                <a:latin typeface="IBM Plex Mono"/>
              </a:rPr>
              <a:t> prin interfață</a:t>
            </a:r>
            <a:r>
              <a:rPr lang="en-US" sz="1400" dirty="0">
                <a:latin typeface="IBM Plex Mono"/>
              </a:rPr>
              <a:t> USB/Ethernet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415" y="3430754"/>
            <a:ext cx="23647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400" dirty="0">
                <a:latin typeface="IBM Plex Mono"/>
              </a:rPr>
              <a:t>Rezoluție de </a:t>
            </a:r>
            <a:r>
              <a:rPr lang="en-US" sz="1400" dirty="0">
                <a:latin typeface="IBM Plex Mono"/>
              </a:rPr>
              <a:t>1 mV / 0.1 mA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745" y="685249"/>
            <a:ext cx="3973800" cy="2646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dirty="0" err="1">
                <a:solidFill>
                  <a:schemeClr val="dk2"/>
                </a:solidFill>
                <a:latin typeface="IBM Plex Mono"/>
              </a:rPr>
              <a:t>Nivelul</a:t>
            </a:r>
            <a:r>
              <a:rPr lang="en-US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b="1" dirty="0" err="1">
                <a:solidFill>
                  <a:schemeClr val="dk2"/>
                </a:solidFill>
                <a:latin typeface="IBM Plex Mono"/>
              </a:rPr>
              <a:t>fizic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IBM Plex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Rectangle 287"/>
              <p:cNvSpPr/>
              <p:nvPr/>
            </p:nvSpPr>
            <p:spPr>
              <a:xfrm>
                <a:off x="220294" y="1886108"/>
                <a:ext cx="3619080" cy="867522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rmAutofit lnSpcReduction="10000"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US" b="1" dirty="0">
                    <a:solidFill>
                      <a:schemeClr val="dk2"/>
                    </a:solidFill>
                    <a:latin typeface="IBM Plex Mono"/>
                  </a:rPr>
                  <a:t>	  </a:t>
                </a:r>
                <a:r>
                  <a:rPr lang="en-US" b="1" dirty="0">
                    <a:solidFill>
                      <a:schemeClr val="tx1"/>
                    </a:solidFill>
                    <a:latin typeface="IBM Plex Mono"/>
                  </a:rPr>
                  <a:t>HMC8012</a:t>
                </a:r>
                <a:r>
                  <a:rPr lang="ro-RO" b="1" dirty="0">
                    <a:solidFill>
                      <a:schemeClr val="tx1"/>
                    </a:solidFill>
                    <a:latin typeface="IBM Plex Mono"/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  <a:latin typeface="IBM Plex Mono"/>
                  </a:rPr>
                  <a:t>Multimet</a:t>
                </a:r>
                <a:r>
                  <a:rPr lang="ro-RO" b="1" dirty="0">
                    <a:solidFill>
                      <a:schemeClr val="tx1"/>
                    </a:solidFill>
                    <a:latin typeface="IBM Plex Mono"/>
                  </a:rPr>
                  <a:t>u digital cu</a:t>
                </a:r>
                <a:endParaRPr lang="en-US" b="1" u="none" strike="noStrike" dirty="0">
                  <a:solidFill>
                    <a:schemeClr val="tx1"/>
                  </a:solidFill>
                  <a:effectLst/>
                  <a:uFillTx/>
                  <a:latin typeface="IBM Plex Mono"/>
                </a:endParaRPr>
              </a:p>
              <a:p>
                <a:pPr>
                  <a:tabLst>
                    <a:tab pos="0" algn="l"/>
                  </a:tabLst>
                </a:pPr>
                <a:r>
                  <a:rPr lang="ro-RO" b="1" dirty="0">
                    <a:solidFill>
                      <a:schemeClr val="tx1"/>
                    </a:solidFill>
                    <a:latin typeface="IBM Plex Mono"/>
                  </a:rPr>
                  <a:t>rezolutie </a:t>
                </a:r>
                <a:r>
                  <a:rPr lang="en-US" b="1" dirty="0">
                    <a:solidFill>
                      <a:schemeClr val="tx1"/>
                    </a:solidFill>
                    <a:latin typeface="IBM Plex Mono"/>
                  </a:rPr>
                  <a:t>5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IBM Plex Mono"/>
                  </a:rPr>
                  <a:t> </a:t>
                </a:r>
                <a:r>
                  <a:rPr lang="ro-RO" b="1" dirty="0">
                    <a:solidFill>
                      <a:schemeClr val="tx1"/>
                    </a:solidFill>
                    <a:latin typeface="IBM Plex Mono"/>
                  </a:rPr>
                  <a:t>d</a:t>
                </a:r>
                <a:r>
                  <a:rPr lang="en-US" b="1" dirty="0" err="1">
                    <a:solidFill>
                      <a:schemeClr val="tx1"/>
                    </a:solidFill>
                    <a:latin typeface="IBM Plex Mono"/>
                  </a:rPr>
                  <a:t>igi</a:t>
                </a:r>
                <a:r>
                  <a:rPr lang="ro-RO" b="1" dirty="0">
                    <a:solidFill>
                      <a:schemeClr val="tx1"/>
                    </a:solidFill>
                    <a:latin typeface="IBM Plex Mono"/>
                  </a:rPr>
                  <a:t>ți</a:t>
                </a:r>
                <a:endParaRPr lang="en-US" b="1" u="none" strike="noStrike" dirty="0">
                  <a:solidFill>
                    <a:schemeClr val="tx1"/>
                  </a:solidFill>
                  <a:effectLst/>
                  <a:uFillTx/>
                  <a:latin typeface="IBM Plex Mono"/>
                </a:endParaRPr>
              </a:p>
            </p:txBody>
          </p:sp>
        </mc:Choice>
        <mc:Fallback>
          <p:sp>
            <p:nvSpPr>
              <p:cNvPr id="288" name="Rectangle 2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94" y="1886108"/>
                <a:ext cx="3619080" cy="867522"/>
              </a:xfrm>
              <a:prstGeom prst="rect">
                <a:avLst/>
              </a:prstGeom>
              <a:blipFill>
                <a:blip r:embed="rId2"/>
                <a:stretch>
                  <a:fillRect l="-1347" t="-6993" b="-7132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96600" y="3246890"/>
            <a:ext cx="23676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IBM Plex Mono"/>
              </a:rPr>
              <a:t>0.015% Basic DC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96600" y="2830587"/>
            <a:ext cx="28328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IBM Plex Mono"/>
              </a:rPr>
              <a:t>High-speed Data Logging to USB</a:t>
            </a:r>
          </a:p>
        </p:txBody>
      </p:sp>
      <p:sp>
        <p:nvSpPr>
          <p:cNvPr id="4" name="Rectangle 3"/>
          <p:cNvSpPr/>
          <p:nvPr/>
        </p:nvSpPr>
        <p:spPr>
          <a:xfrm>
            <a:off x="496600" y="3663193"/>
            <a:ext cx="34579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IBM Plex Mono"/>
              </a:rPr>
              <a:t>Simultaneous triple measurement display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320" y="1929482"/>
            <a:ext cx="4523241" cy="2417763"/>
          </a:xfrm>
          <a:prstGeom prst="rect">
            <a:avLst/>
          </a:prstGeom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96600" y="27512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Arhitectura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sistemului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IBM Plex Mon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2170" y="711929"/>
            <a:ext cx="3973800" cy="2646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dirty="0" err="1">
                <a:solidFill>
                  <a:schemeClr val="dk2"/>
                </a:solidFill>
                <a:latin typeface="IBM Plex Mono"/>
              </a:rPr>
              <a:t>Nivelul</a:t>
            </a:r>
            <a:r>
              <a:rPr lang="en-US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b="1" dirty="0" err="1">
                <a:solidFill>
                  <a:schemeClr val="dk2"/>
                </a:solidFill>
                <a:latin typeface="IBM Plex Mono"/>
              </a:rPr>
              <a:t>fizic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IBM Plex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515160" y="190415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Comunicarea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IBM Plex Mono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ubTitle"/>
          </p:nvPr>
        </p:nvSpPr>
        <p:spPr>
          <a:xfrm>
            <a:off x="5187980" y="3864953"/>
            <a:ext cx="354312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100" b="1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VISA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un standard I/O (Input/Output)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utilizat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comunica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instrumente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indiferent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interfața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fizică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(USB,  RS-232, Ethernet/LAN).</a:t>
            </a:r>
            <a:endParaRPr lang="en-US" sz="1100" u="none" strike="noStrike" dirty="0">
              <a:solidFill>
                <a:srgbClr val="000000"/>
              </a:solidFill>
              <a:effectLst/>
              <a:uFillTx/>
              <a:latin typeface="IBM Plex Mono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0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281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282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  <p:sp>
            <p:nvSpPr>
              <p:cNvPr id="283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</p:grpSp>
        <p:grpSp>
          <p:nvGrpSpPr>
            <p:cNvPr id="284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285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  <p:cxnSp>
            <p:nvCxnSpPr>
              <p:cNvPr id="286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287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IBM Plex Mono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8" y="3839825"/>
            <a:ext cx="298560" cy="298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6696" y="3786076"/>
            <a:ext cx="402658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100" b="1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SCPI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limbajul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folosit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programarea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instrumentelor</a:t>
            </a:r>
            <a:endParaRPr lang="en-US" sz="1100" dirty="0">
              <a:solidFill>
                <a:schemeClr val="dk1"/>
              </a:solidFill>
              <a:latin typeface="IBM Plex Mono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(ex: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surse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tensiune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multimetre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dirty="0" err="1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osciloscoape</a:t>
            </a:r>
            <a:r>
              <a:rPr lang="en-US" sz="1100" dirty="0">
                <a:solidFill>
                  <a:schemeClr val="dk1"/>
                </a:solidFill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sz="1100" dirty="0">
              <a:solidFill>
                <a:srgbClr val="000000"/>
              </a:solidFill>
              <a:latin typeface="IBM Plex Mono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05547" y="1005775"/>
            <a:ext cx="2258586" cy="2651815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IBM Plex Mono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41" y="1467573"/>
            <a:ext cx="2079928" cy="1878847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98741" y="1293248"/>
            <a:ext cx="1940550" cy="2086841"/>
          </a:xfrm>
          <a:prstGeom prst="roundRect">
            <a:avLst/>
          </a:prstGeom>
          <a:noFill/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Mono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37643" y="1320245"/>
            <a:ext cx="144943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dirty="0" err="1">
                <a:solidFill>
                  <a:schemeClr val="dk2"/>
                </a:solidFill>
                <a:latin typeface="IBM Plex Mono"/>
              </a:rPr>
              <a:t>Echipamente</a:t>
            </a:r>
            <a:r>
              <a:rPr lang="en-US" sz="800" b="1" dirty="0">
                <a:solidFill>
                  <a:schemeClr val="dk2"/>
                </a:solidFill>
                <a:latin typeface="IBM Plex Mono"/>
              </a:rPr>
              <a:t> de </a:t>
            </a:r>
            <a:r>
              <a:rPr lang="en-US" sz="800" b="1" dirty="0" err="1">
                <a:solidFill>
                  <a:schemeClr val="dk2"/>
                </a:solidFill>
                <a:latin typeface="IBM Plex Mono"/>
              </a:rPr>
              <a:t>laborator</a:t>
            </a:r>
            <a:endParaRPr lang="en-US" sz="800" dirty="0">
              <a:latin typeface="IBM Plex Mon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022570" y="1359163"/>
            <a:ext cx="35618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dirty="0">
                <a:solidFill>
                  <a:schemeClr val="dk2"/>
                </a:solidFill>
                <a:latin typeface="IBM Plex Mono"/>
              </a:rPr>
              <a:t>PC </a:t>
            </a:r>
            <a:endParaRPr lang="en-US" sz="800" dirty="0">
              <a:latin typeface="IBM Plex Mon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30389" y="1288341"/>
            <a:ext cx="1940550" cy="2086841"/>
          </a:xfrm>
          <a:prstGeom prst="roundRect">
            <a:avLst/>
          </a:prstGeom>
          <a:noFill/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Mono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727886" y="1060358"/>
            <a:ext cx="176565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dk2"/>
                </a:solidFill>
                <a:latin typeface="IBM Plex Mono"/>
              </a:rPr>
              <a:t> VISA (Virtual  Instrument  </a:t>
            </a:r>
          </a:p>
          <a:p>
            <a:r>
              <a:rPr lang="en-US" sz="800" b="1" dirty="0">
                <a:solidFill>
                  <a:schemeClr val="dk2"/>
                </a:solidFill>
                <a:latin typeface="IBM Plex Mono"/>
              </a:rPr>
              <a:t>   Software </a:t>
            </a:r>
            <a:r>
              <a:rPr lang="en-US" sz="800" b="1" dirty="0" err="1">
                <a:solidFill>
                  <a:schemeClr val="dk2"/>
                </a:solidFill>
                <a:latin typeface="IBM Plex Mono"/>
              </a:rPr>
              <a:t>Arhitecture</a:t>
            </a:r>
            <a:r>
              <a:rPr lang="en-US" sz="800" b="1" dirty="0">
                <a:solidFill>
                  <a:schemeClr val="dk2"/>
                </a:solidFill>
                <a:latin typeface="IBM Plex Mono"/>
              </a:rPr>
              <a:t> )</a:t>
            </a:r>
            <a:endParaRPr lang="en-US" sz="800" dirty="0">
              <a:latin typeface="IBM Plex Mon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865613" y="1513588"/>
            <a:ext cx="11384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dirty="0" err="1">
                <a:solidFill>
                  <a:schemeClr val="dk2"/>
                </a:solidFill>
                <a:latin typeface="IBM Plex Mono"/>
              </a:rPr>
              <a:t>Stratul</a:t>
            </a:r>
            <a:r>
              <a:rPr lang="en-US" sz="800" b="1" dirty="0">
                <a:solidFill>
                  <a:schemeClr val="dk2"/>
                </a:solidFill>
                <a:latin typeface="IBM Plex Mono"/>
              </a:rPr>
              <a:t> de transport</a:t>
            </a:r>
            <a:endParaRPr lang="en-US" sz="800" dirty="0">
              <a:latin typeface="IBM Plex Mon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07594" y="1479732"/>
            <a:ext cx="1700212" cy="1964622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01849" y="1952336"/>
            <a:ext cx="511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USB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9056" y="2309503"/>
            <a:ext cx="1008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LAN (TCP/IP)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1449" y="2777231"/>
            <a:ext cx="1211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Serial</a:t>
            </a:r>
          </a:p>
          <a:p>
            <a:r>
              <a:rPr lang="en-US" sz="1200" dirty="0">
                <a:latin typeface="IBM Plex Mono"/>
                <a:ea typeface="Calibri" panose="020F0502020204030204" pitchFamily="34" charset="0"/>
                <a:cs typeface="Calibri" panose="020F0502020204030204" pitchFamily="34" charset="0"/>
              </a:rPr>
              <a:t>(RS-232 /485)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 flipH="1">
            <a:off x="3841695" y="1944514"/>
            <a:ext cx="318767" cy="27093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783947" y="2330551"/>
            <a:ext cx="395400" cy="3954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4466" y="2840883"/>
            <a:ext cx="356983" cy="33436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236" y="2758696"/>
            <a:ext cx="626203" cy="62620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4478" y="2751607"/>
            <a:ext cx="626203" cy="626203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5583119" y="1535689"/>
            <a:ext cx="626203" cy="62620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2666135" y="1507783"/>
            <a:ext cx="626203" cy="626203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2652500" y="1466885"/>
            <a:ext cx="6815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dirty="0" err="1">
                <a:solidFill>
                  <a:schemeClr val="dk2"/>
                </a:solidFill>
                <a:latin typeface="IBM Plex Mono"/>
              </a:rPr>
              <a:t>Comand</a:t>
            </a:r>
            <a:r>
              <a:rPr lang="ro-RO" sz="800" b="1" dirty="0">
                <a:solidFill>
                  <a:schemeClr val="dk2"/>
                </a:solidFill>
                <a:latin typeface="IBM Plex Mono"/>
              </a:rPr>
              <a:t>ă</a:t>
            </a:r>
            <a:r>
              <a:rPr lang="en-US" sz="800" b="1" dirty="0">
                <a:solidFill>
                  <a:schemeClr val="dk2"/>
                </a:solidFill>
                <a:latin typeface="IBM Plex Mono"/>
              </a:rPr>
              <a:t> </a:t>
            </a:r>
          </a:p>
          <a:p>
            <a:r>
              <a:rPr lang="en-US" sz="800" b="1" dirty="0">
                <a:solidFill>
                  <a:schemeClr val="dk2"/>
                </a:solidFill>
                <a:latin typeface="IBM Plex Mono"/>
              </a:rPr>
              <a:t>  SCPI</a:t>
            </a:r>
            <a:endParaRPr lang="en-US" sz="800" dirty="0">
              <a:latin typeface="IBM Plex Mono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590614" y="1452033"/>
            <a:ext cx="6815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dirty="0" err="1">
                <a:solidFill>
                  <a:schemeClr val="dk2"/>
                </a:solidFill>
                <a:latin typeface="IBM Plex Mono"/>
              </a:rPr>
              <a:t>Comand</a:t>
            </a:r>
            <a:r>
              <a:rPr lang="ro-RO" sz="800" b="1" dirty="0">
                <a:solidFill>
                  <a:schemeClr val="dk2"/>
                </a:solidFill>
                <a:latin typeface="IBM Plex Mono"/>
              </a:rPr>
              <a:t>ă</a:t>
            </a:r>
            <a:r>
              <a:rPr lang="en-US" sz="800" b="1" dirty="0">
                <a:solidFill>
                  <a:schemeClr val="dk2"/>
                </a:solidFill>
                <a:latin typeface="IBM Plex Mono"/>
              </a:rPr>
              <a:t> </a:t>
            </a:r>
          </a:p>
          <a:p>
            <a:r>
              <a:rPr lang="en-US" sz="800" b="1" dirty="0">
                <a:solidFill>
                  <a:schemeClr val="dk2"/>
                </a:solidFill>
                <a:latin typeface="IBM Plex Mono"/>
              </a:rPr>
              <a:t>  SCPI</a:t>
            </a:r>
            <a:endParaRPr lang="en-US" sz="800" dirty="0">
              <a:latin typeface="IBM Plex Mono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671613" y="2728796"/>
            <a:ext cx="619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dirty="0">
                <a:solidFill>
                  <a:schemeClr val="dk2"/>
                </a:solidFill>
                <a:latin typeface="IBM Plex Mono"/>
              </a:rPr>
              <a:t>R</a:t>
            </a:r>
            <a:r>
              <a:rPr lang="ro-RO" sz="800" b="1" dirty="0">
                <a:solidFill>
                  <a:schemeClr val="dk2"/>
                </a:solidFill>
                <a:latin typeface="IBM Plex Mono"/>
              </a:rPr>
              <a:t>ă</a:t>
            </a:r>
            <a:r>
              <a:rPr lang="en-US" sz="800" b="1" dirty="0" err="1">
                <a:solidFill>
                  <a:schemeClr val="dk2"/>
                </a:solidFill>
                <a:latin typeface="IBM Plex Mono"/>
              </a:rPr>
              <a:t>spuns</a:t>
            </a:r>
            <a:endParaRPr lang="en-US" sz="800" b="1" dirty="0">
              <a:solidFill>
                <a:schemeClr val="dk2"/>
              </a:solidFill>
              <a:latin typeface="IBM Plex Mono"/>
            </a:endParaRPr>
          </a:p>
          <a:p>
            <a:r>
              <a:rPr lang="en-US" sz="800" b="1" dirty="0">
                <a:solidFill>
                  <a:schemeClr val="dk2"/>
                </a:solidFill>
                <a:latin typeface="IBM Plex Mono"/>
              </a:rPr>
              <a:t>  SCPI</a:t>
            </a:r>
            <a:endParaRPr lang="en-US" sz="800" dirty="0">
              <a:latin typeface="IBM Plex Mono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615288" y="2721278"/>
            <a:ext cx="619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dirty="0">
                <a:solidFill>
                  <a:schemeClr val="dk2"/>
                </a:solidFill>
                <a:latin typeface="IBM Plex Mono"/>
              </a:rPr>
              <a:t>R</a:t>
            </a:r>
            <a:r>
              <a:rPr lang="ro-RO" sz="800" b="1" dirty="0">
                <a:solidFill>
                  <a:schemeClr val="dk2"/>
                </a:solidFill>
                <a:latin typeface="IBM Plex Mono"/>
              </a:rPr>
              <a:t>ă</a:t>
            </a:r>
            <a:r>
              <a:rPr lang="en-US" sz="800" b="1" dirty="0" err="1">
                <a:solidFill>
                  <a:schemeClr val="dk2"/>
                </a:solidFill>
                <a:latin typeface="IBM Plex Mono"/>
              </a:rPr>
              <a:t>spuns</a:t>
            </a:r>
            <a:endParaRPr lang="en-US" sz="800" b="1" dirty="0">
              <a:solidFill>
                <a:schemeClr val="dk2"/>
              </a:solidFill>
              <a:latin typeface="IBM Plex Mono"/>
            </a:endParaRPr>
          </a:p>
          <a:p>
            <a:r>
              <a:rPr lang="en-US" sz="800" b="1" dirty="0">
                <a:solidFill>
                  <a:schemeClr val="dk2"/>
                </a:solidFill>
                <a:latin typeface="IBM Plex Mono"/>
              </a:rPr>
              <a:t>  SCPI</a:t>
            </a:r>
            <a:endParaRPr lang="en-US" sz="800" dirty="0">
              <a:latin typeface="IBM Plex Mono"/>
            </a:endParaRPr>
          </a:p>
        </p:txBody>
      </p:sp>
      <p:pic>
        <p:nvPicPr>
          <p:cNvPr id="256" name="Picture 25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4575" y="3953187"/>
            <a:ext cx="278737" cy="278737"/>
          </a:xfrm>
          <a:prstGeom prst="rect">
            <a:avLst/>
          </a:prstGeom>
        </p:spPr>
      </p:pic>
      <p:pic>
        <p:nvPicPr>
          <p:cNvPr id="257" name="Picture 25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943" y="1734712"/>
            <a:ext cx="1771263" cy="13789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0" build="p"/>
      <p:bldP spid="5" grpId="0"/>
      <p:bldP spid="6" grpId="0" animBg="1"/>
      <p:bldP spid="27" grpId="0" animBg="1"/>
      <p:bldP spid="15" grpId="0"/>
      <p:bldP spid="30" grpId="0"/>
      <p:bldP spid="31" grpId="0" animBg="1"/>
      <p:bldP spid="34" grpId="0"/>
      <p:bldP spid="36" grpId="0"/>
      <p:bldP spid="16" grpId="0" animBg="1"/>
      <p:bldP spid="17" grpId="0"/>
      <p:bldP spid="39" grpId="0"/>
      <p:bldP spid="40" grpId="0"/>
      <p:bldP spid="53" grpId="0"/>
      <p:bldP spid="54" grpId="0"/>
      <p:bldP spid="55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ft Arrow 6"/>
          <p:cNvSpPr/>
          <p:nvPr/>
        </p:nvSpPr>
        <p:spPr>
          <a:xfrm>
            <a:off x="452407" y="4243388"/>
            <a:ext cx="7193757" cy="824656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>
            <a:off x="300037" y="455310"/>
            <a:ext cx="7350919" cy="75530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US" b="1">
              <a:ln/>
              <a:solidFill>
                <a:schemeClr val="accent4"/>
              </a:solidFill>
            </a:endParaRPr>
          </a:p>
        </p:txBody>
      </p:sp>
      <p:sp>
        <p:nvSpPr>
          <p:cNvPr id="275" name="Rectangle 274"/>
          <p:cNvSpPr/>
          <p:nvPr/>
        </p:nvSpPr>
        <p:spPr>
          <a:xfrm>
            <a:off x="573276" y="192420"/>
            <a:ext cx="3946654" cy="10905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dirty="0">
                <a:solidFill>
                  <a:schemeClr val="dk2"/>
                </a:solidFill>
                <a:latin typeface="IBM Plex Mono"/>
              </a:rPr>
              <a:t>Flowchart-</a:t>
            </a:r>
            <a:r>
              <a:rPr lang="en-US" sz="2400" b="1" dirty="0" err="1">
                <a:solidFill>
                  <a:schemeClr val="dk2"/>
                </a:solidFill>
                <a:latin typeface="IBM Plex Mono"/>
              </a:rPr>
              <a:t>ul</a:t>
            </a:r>
            <a:r>
              <a:rPr lang="en-US" sz="24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sz="2400" b="1" dirty="0" err="1">
                <a:solidFill>
                  <a:schemeClr val="dk2"/>
                </a:solidFill>
                <a:latin typeface="IBM Plex Mono"/>
              </a:rPr>
              <a:t>aplica</a:t>
            </a:r>
            <a:r>
              <a:rPr lang="ro-RO" sz="2400" b="1" dirty="0">
                <a:solidFill>
                  <a:schemeClr val="dk2"/>
                </a:solidFill>
                <a:latin typeface="IBM Plex Mono"/>
              </a:rPr>
              <a:t>ț</a:t>
            </a:r>
            <a:r>
              <a:rPr lang="en-US" sz="2400" b="1" dirty="0" err="1">
                <a:solidFill>
                  <a:schemeClr val="dk2"/>
                </a:solidFill>
                <a:latin typeface="IBM Plex Mono"/>
              </a:rPr>
              <a:t>iei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76" y="737719"/>
            <a:ext cx="7635468" cy="4244600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8329613" y="950119"/>
            <a:ext cx="428625" cy="3457575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570" y="885826"/>
            <a:ext cx="6202339" cy="4381701"/>
          </a:xfrm>
          <a:prstGeom prst="rect">
            <a:avLst/>
          </a:prstGeom>
        </p:spPr>
      </p:pic>
      <p:sp>
        <p:nvSpPr>
          <p:cNvPr id="291" name="Rectangle 290"/>
          <p:cNvSpPr/>
          <p:nvPr/>
        </p:nvSpPr>
        <p:spPr>
          <a:xfrm>
            <a:off x="476280" y="183386"/>
            <a:ext cx="8191080" cy="8095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</a:rPr>
              <a:t>Interfa</a:t>
            </a:r>
            <a:r>
              <a:rPr lang="ro-RO" sz="3000" b="1" dirty="0">
                <a:solidFill>
                  <a:schemeClr val="dk2"/>
                </a:solidFill>
                <a:latin typeface="IBM Plex Mono"/>
              </a:rPr>
              <a:t>ț</a:t>
            </a:r>
            <a:r>
              <a:rPr lang="en-US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a </a:t>
            </a: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</a:rPr>
              <a:t>grafic</a:t>
            </a:r>
            <a:r>
              <a:rPr lang="ro-RO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ă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3273" y="882321"/>
            <a:ext cx="36986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BM Plex Mono"/>
              </a:rPr>
              <a:t>La </a:t>
            </a:r>
            <a:r>
              <a:rPr lang="en-US" dirty="0" err="1">
                <a:latin typeface="IBM Plex Mono"/>
              </a:rPr>
              <a:t>pornire</a:t>
            </a:r>
            <a:r>
              <a:rPr lang="en-US" dirty="0">
                <a:latin typeface="IBM Plex Mono"/>
              </a:rPr>
              <a:t>, </a:t>
            </a:r>
            <a:r>
              <a:rPr lang="en-US" dirty="0" err="1">
                <a:latin typeface="IBM Plex Mono"/>
              </a:rPr>
              <a:t>aplicatia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detecteaz</a:t>
            </a:r>
            <a:r>
              <a:rPr lang="ro-RO" dirty="0">
                <a:latin typeface="IBM Plex Mono"/>
              </a:rPr>
              <a:t>ă</a:t>
            </a:r>
            <a:r>
              <a:rPr lang="en-US" dirty="0">
                <a:latin typeface="IBM Plex Mono"/>
              </a:rPr>
              <a:t> automat </a:t>
            </a:r>
            <a:r>
              <a:rPr lang="en-US" dirty="0" err="1">
                <a:latin typeface="IBM Plex Mono"/>
              </a:rPr>
              <a:t>porturile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corespunz</a:t>
            </a:r>
            <a:r>
              <a:rPr lang="ro-RO" dirty="0">
                <a:latin typeface="IBM Plex Mono"/>
              </a:rPr>
              <a:t>ă</a:t>
            </a:r>
            <a:r>
              <a:rPr lang="en-US" dirty="0" err="1">
                <a:latin typeface="IBM Plex Mono"/>
              </a:rPr>
              <a:t>toare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echipamentelor</a:t>
            </a:r>
            <a:r>
              <a:rPr lang="en-US" dirty="0">
                <a:latin typeface="IBM Plex Mono"/>
              </a:rPr>
              <a:t> </a:t>
            </a:r>
            <a:r>
              <a:rPr lang="ro-RO" dirty="0" err="1">
                <a:latin typeface="IBM Plex Mono"/>
              </a:rPr>
              <a:t>ș</a:t>
            </a:r>
            <a:r>
              <a:rPr lang="en-US" dirty="0" err="1">
                <a:latin typeface="IBM Plex Mono"/>
              </a:rPr>
              <a:t>i</a:t>
            </a:r>
            <a:r>
              <a:rPr lang="en-US" dirty="0">
                <a:latin typeface="IBM Plex Mono"/>
              </a:rPr>
              <a:t> le </a:t>
            </a:r>
            <a:r>
              <a:rPr lang="en-US" dirty="0" err="1">
                <a:latin typeface="IBM Plex Mono"/>
              </a:rPr>
              <a:t>atribuie</a:t>
            </a:r>
            <a:r>
              <a:rPr lang="en-US" dirty="0">
                <a:latin typeface="IBM Plex Mono"/>
              </a:rPr>
              <a:t> c</a:t>
            </a:r>
            <a:r>
              <a:rPr lang="ro-RO" dirty="0">
                <a:latin typeface="IBM Plex Mono"/>
              </a:rPr>
              <a:t>â</a:t>
            </a:r>
            <a:r>
              <a:rPr lang="en-US" dirty="0" err="1">
                <a:latin typeface="IBM Plex Mono"/>
              </a:rPr>
              <a:t>mpurilor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corespunz</a:t>
            </a:r>
            <a:r>
              <a:rPr lang="ro-RO" dirty="0">
                <a:latin typeface="IBM Plex Mono"/>
              </a:rPr>
              <a:t>ă</a:t>
            </a:r>
            <a:r>
              <a:rPr lang="en-US" dirty="0" err="1">
                <a:latin typeface="IBM Plex Mono"/>
              </a:rPr>
              <a:t>toare</a:t>
            </a:r>
            <a:r>
              <a:rPr lang="en-US" dirty="0">
                <a:latin typeface="IBM Plex Mono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61" y="3701843"/>
            <a:ext cx="4869602" cy="10973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3275" y="192420"/>
            <a:ext cx="4267481" cy="10905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dirty="0" err="1">
                <a:solidFill>
                  <a:schemeClr val="dk2"/>
                </a:solidFill>
                <a:latin typeface="IBM Plex Mono"/>
              </a:rPr>
              <a:t>Conectarea</a:t>
            </a:r>
            <a:r>
              <a:rPr lang="en-US" sz="2400" b="1" dirty="0">
                <a:solidFill>
                  <a:schemeClr val="dk2"/>
                </a:solidFill>
                <a:latin typeface="IBM Plex Mono"/>
              </a:rPr>
              <a:t> la </a:t>
            </a:r>
            <a:r>
              <a:rPr lang="en-US" sz="2400" b="1" dirty="0" err="1">
                <a:solidFill>
                  <a:schemeClr val="dk2"/>
                </a:solidFill>
                <a:latin typeface="IBM Plex Mono"/>
              </a:rPr>
              <a:t>echipamente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IBM Plex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7823" y="3701843"/>
            <a:ext cx="3086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IBM Plex Mono"/>
              </a:rPr>
              <a:t>Dac</a:t>
            </a:r>
            <a:r>
              <a:rPr lang="ro-RO" dirty="0">
                <a:latin typeface="IBM Plex Mono"/>
              </a:rPr>
              <a:t>ă</a:t>
            </a:r>
            <a:r>
              <a:rPr lang="en-US" dirty="0">
                <a:latin typeface="IBM Plex Mono"/>
              </a:rPr>
              <a:t> un </a:t>
            </a:r>
            <a:r>
              <a:rPr lang="en-US" dirty="0" err="1">
                <a:latin typeface="IBM Plex Mono"/>
              </a:rPr>
              <a:t>echipament</a:t>
            </a:r>
            <a:r>
              <a:rPr lang="en-US" dirty="0">
                <a:latin typeface="IBM Plex Mono"/>
              </a:rPr>
              <a:t> nu </a:t>
            </a:r>
            <a:r>
              <a:rPr lang="en-US" dirty="0" err="1">
                <a:latin typeface="IBM Plex Mono"/>
              </a:rPr>
              <a:t>este</a:t>
            </a:r>
            <a:r>
              <a:rPr lang="en-US" dirty="0">
                <a:latin typeface="IBM Plex Mono"/>
              </a:rPr>
              <a:t> g</a:t>
            </a:r>
            <a:r>
              <a:rPr lang="ro-RO" dirty="0">
                <a:latin typeface="IBM Plex Mono"/>
              </a:rPr>
              <a:t>ă</a:t>
            </a:r>
            <a:r>
              <a:rPr lang="en-US" dirty="0">
                <a:latin typeface="IBM Plex Mono"/>
              </a:rPr>
              <a:t>sit, c</a:t>
            </a:r>
            <a:r>
              <a:rPr lang="ro-RO" dirty="0">
                <a:latin typeface="IBM Plex Mono"/>
              </a:rPr>
              <a:t>â</a:t>
            </a:r>
            <a:r>
              <a:rPr lang="en-US" dirty="0" err="1">
                <a:latin typeface="IBM Plex Mono"/>
              </a:rPr>
              <a:t>mpul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respectiv</a:t>
            </a:r>
            <a:r>
              <a:rPr lang="en-US" dirty="0">
                <a:latin typeface="IBM Plex Mono"/>
              </a:rPr>
              <a:t> r</a:t>
            </a:r>
            <a:r>
              <a:rPr lang="ro-RO" dirty="0">
                <a:latin typeface="IBM Plex Mono"/>
              </a:rPr>
              <a:t>ă</a:t>
            </a:r>
            <a:r>
              <a:rPr lang="en-US" dirty="0">
                <a:latin typeface="IBM Plex Mono"/>
              </a:rPr>
              <a:t>mane </a:t>
            </a:r>
            <a:r>
              <a:rPr lang="en-US" dirty="0" err="1">
                <a:latin typeface="IBM Plex Mono"/>
              </a:rPr>
              <a:t>necompletat</a:t>
            </a:r>
            <a:r>
              <a:rPr lang="en-US" dirty="0">
                <a:latin typeface="IBM Plex Mono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067" y="712393"/>
            <a:ext cx="3672783" cy="18807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88" y="2671220"/>
            <a:ext cx="5380186" cy="952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87743" y="102995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Conectarea</a:t>
            </a:r>
            <a:r>
              <a:rPr lang="en-US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 la </a:t>
            </a: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echipamente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99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300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301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2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03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304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05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06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915" y="1897375"/>
            <a:ext cx="644951" cy="6449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6936" y="3936088"/>
            <a:ext cx="8189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Activarea</a:t>
            </a:r>
            <a:r>
              <a:rPr lang="en-US" dirty="0"/>
              <a:t> </a:t>
            </a:r>
            <a:r>
              <a:rPr lang="en-US" dirty="0" err="1">
                <a:latin typeface="IBM Plex Mono"/>
              </a:rPr>
              <a:t>instrumentelor</a:t>
            </a:r>
            <a:r>
              <a:rPr lang="en-US" dirty="0"/>
              <a:t>: de la </a:t>
            </a:r>
            <a:r>
              <a:rPr lang="en-US" dirty="0" err="1"/>
              <a:t>starea</a:t>
            </a:r>
            <a:r>
              <a:rPr lang="en-US" dirty="0"/>
              <a:t> offline la </a:t>
            </a:r>
            <a:r>
              <a:rPr lang="en-US" dirty="0" err="1"/>
              <a:t>fluxul</a:t>
            </a:r>
            <a:r>
              <a:rPr lang="en-US" dirty="0"/>
              <a:t> de date live.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57" y="838482"/>
            <a:ext cx="2625315" cy="2996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533" y="775561"/>
            <a:ext cx="2655218" cy="2995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306"/>
          <p:cNvSpPr/>
          <p:nvPr/>
        </p:nvSpPr>
        <p:spPr>
          <a:xfrm>
            <a:off x="397699" y="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Configurarea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ro-RO" sz="3000" b="1" dirty="0" err="1">
                <a:solidFill>
                  <a:schemeClr val="dk2"/>
                </a:solidFill>
                <a:latin typeface="IBM Plex Mono"/>
              </a:rPr>
              <a:t>ș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cenariului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de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testare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13445" y="1069013"/>
            <a:ext cx="380391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Identificare</a:t>
            </a:r>
            <a:r>
              <a:rPr kumimoji="0" 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: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Tipul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și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modelul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componentei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(ex.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Diodă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/LED).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BM Plex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Sweep </a:t>
            </a:r>
            <a:r>
              <a:rPr kumimoji="0" 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Tensiune</a:t>
            </a:r>
            <a:r>
              <a:rPr kumimoji="0" 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: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Definirea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pragurilor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(Start/Stop)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și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a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rezoluției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(Pas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Creștere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BM Plex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Temporizare</a:t>
            </a:r>
            <a:r>
              <a:rPr kumimoji="0" 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: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Setarea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intervalului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de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repaus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(</a:t>
            </a:r>
            <a:r>
              <a:rPr kumimoji="0" 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Delay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)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între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citiri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BM Plex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Protecție</a:t>
            </a:r>
            <a:r>
              <a:rPr kumimoji="0" 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: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Limitarea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curentului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pentru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siguranța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componentei</a:t>
            </a:r>
            <a:r>
              <a:rPr kumimoji="0" lang="en-US" sz="15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testate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BM Plex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Execuție</a:t>
            </a:r>
            <a:r>
              <a:rPr kumimoji="0" 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: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Lansarea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sau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oprirea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instantanee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a </a:t>
            </a:r>
            <a:r>
              <a:rPr kumimoji="0" 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secvenței</a:t>
            </a: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de test.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507" y="1393580"/>
            <a:ext cx="3589331" cy="26748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308"/>
          <p:cNvSpPr/>
          <p:nvPr/>
        </p:nvSpPr>
        <p:spPr>
          <a:xfrm>
            <a:off x="476280" y="82741"/>
            <a:ext cx="409572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</a:rPr>
              <a:t>Trasarea</a:t>
            </a:r>
            <a:r>
              <a:rPr lang="en-US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 </a:t>
            </a: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</a:rPr>
              <a:t>caracteristicii</a:t>
            </a:r>
            <a:r>
              <a:rPr lang="en-US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 I-V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0" name="Rectangle 309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05793" y="1472401"/>
            <a:ext cx="3760054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Plotare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Iterativă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Generarea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automată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a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curbei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I(V)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prin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plotarea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punctelor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în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momentul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achiziției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BM Plex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Ajustare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Dinamică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(Auto-Scaling):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Reîncadrarea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automată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a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axelor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pentru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vizibilitatea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completă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a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caracteristicii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trasate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Mono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69" y="925457"/>
            <a:ext cx="3846657" cy="30861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311"/>
          <p:cNvSpPr/>
          <p:nvPr/>
        </p:nvSpPr>
        <p:spPr>
          <a:xfrm>
            <a:off x="476280" y="105890"/>
            <a:ext cx="3124170" cy="507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dirty="0">
                <a:solidFill>
                  <a:schemeClr val="dk2"/>
                </a:solidFill>
                <a:latin typeface="IBM Plex Mono"/>
              </a:rPr>
              <a:t>Logging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IBM Plex Mono"/>
            </a:endParaRPr>
          </a:p>
        </p:txBody>
      </p:sp>
      <p:sp>
        <p:nvSpPr>
          <p:cNvPr id="313" name="Rectangle 312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IBM Plex Mon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3001" y="4001412"/>
            <a:ext cx="8392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latin typeface="IBM Plex Mono"/>
              </a:rPr>
              <a:t>Aplica</a:t>
            </a:r>
            <a:r>
              <a:rPr lang="ro-RO" dirty="0">
                <a:latin typeface="IBM Plex Mono"/>
              </a:rPr>
              <a:t>ț</a:t>
            </a:r>
            <a:r>
              <a:rPr lang="it-IT" dirty="0">
                <a:latin typeface="IBM Plex Mono"/>
              </a:rPr>
              <a:t>ia </a:t>
            </a:r>
            <a:r>
              <a:rPr lang="ro-RO" dirty="0">
                <a:latin typeface="IBM Plex Mono"/>
              </a:rPr>
              <a:t>î</a:t>
            </a:r>
            <a:r>
              <a:rPr lang="it-IT" dirty="0">
                <a:latin typeface="IBM Plex Mono"/>
              </a:rPr>
              <a:t>nregistreaz</a:t>
            </a:r>
            <a:r>
              <a:rPr lang="ro-RO" dirty="0">
                <a:latin typeface="IBM Plex Mono"/>
              </a:rPr>
              <a:t>ă</a:t>
            </a:r>
            <a:r>
              <a:rPr lang="it-IT" dirty="0">
                <a:latin typeface="IBM Plex Mono"/>
              </a:rPr>
              <a:t> cronologic fiecare instrucțiune trimis</a:t>
            </a:r>
            <a:r>
              <a:rPr lang="ro-RO" dirty="0">
                <a:latin typeface="IBM Plex Mono"/>
              </a:rPr>
              <a:t>ă</a:t>
            </a:r>
            <a:r>
              <a:rPr lang="it-IT" dirty="0">
                <a:latin typeface="IBM Plex Mono"/>
              </a:rPr>
              <a:t> către echipamente.</a:t>
            </a:r>
            <a:endParaRPr lang="en-US" dirty="0">
              <a:latin typeface="IBM Plex Mono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698" y="1294019"/>
            <a:ext cx="5799323" cy="20270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375164" y="96054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Export date </a:t>
            </a:r>
            <a:r>
              <a:rPr lang="ro-RO" sz="3000" b="1" dirty="0" err="1">
                <a:solidFill>
                  <a:schemeClr val="dk2"/>
                </a:solidFill>
                <a:latin typeface="IBM Plex Mono"/>
                <a:ea typeface="IBM Plex Mono"/>
              </a:rPr>
              <a:t>ș</a:t>
            </a: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i</a:t>
            </a:r>
            <a:r>
              <a:rPr lang="en-US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 </a:t>
            </a: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generare</a:t>
            </a:r>
            <a:r>
              <a:rPr lang="en-US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 </a:t>
            </a: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raport</a:t>
            </a:r>
            <a:r>
              <a:rPr lang="en-US" sz="3000" b="1" u="none" strike="noStrike" dirty="0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 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18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319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320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22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323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24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25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589" y="703734"/>
            <a:ext cx="2668612" cy="32644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807" y="703734"/>
            <a:ext cx="2484782" cy="326447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408" y="1834515"/>
            <a:ext cx="644951" cy="6449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36" y="933839"/>
            <a:ext cx="2293363" cy="29296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630" y="1627400"/>
            <a:ext cx="4479118" cy="2432058"/>
          </a:xfrm>
          <a:prstGeom prst="rect">
            <a:avLst/>
          </a:prstGeom>
        </p:spPr>
      </p:pic>
      <p:sp>
        <p:nvSpPr>
          <p:cNvPr id="326" name="Rectangle 325"/>
          <p:cNvSpPr/>
          <p:nvPr/>
        </p:nvSpPr>
        <p:spPr>
          <a:xfrm>
            <a:off x="147668" y="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Rezultate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experimentale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– setup de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testare</a:t>
            </a:r>
            <a:endParaRPr lang="en-US" sz="3000" b="1" dirty="0">
              <a:solidFill>
                <a:schemeClr val="dk2"/>
              </a:solidFill>
              <a:latin typeface="IBM Plex Mono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IBM Plex Mon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2918" y="629034"/>
            <a:ext cx="76795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IBM Plex Mono"/>
              </a:rPr>
              <a:t>Testarea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unui</a:t>
            </a:r>
            <a:r>
              <a:rPr lang="en-US" dirty="0">
                <a:latin typeface="IBM Plex Mono"/>
              </a:rPr>
              <a:t> LED </a:t>
            </a:r>
            <a:r>
              <a:rPr lang="en-US" dirty="0" err="1">
                <a:latin typeface="IBM Plex Mono"/>
              </a:rPr>
              <a:t>rosu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în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regim</a:t>
            </a:r>
            <a:r>
              <a:rPr lang="en-US" dirty="0">
                <a:latin typeface="IBM Plex Mono"/>
              </a:rPr>
              <a:t> de </a:t>
            </a:r>
            <a:r>
              <a:rPr lang="en-US" dirty="0" err="1">
                <a:latin typeface="IBM Plex Mono"/>
              </a:rPr>
              <a:t>curent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continuu</a:t>
            </a:r>
            <a:endParaRPr lang="en-US" dirty="0">
              <a:latin typeface="IBM Plex Mono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81" y="696546"/>
            <a:ext cx="278737" cy="278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3208" y="3438347"/>
            <a:ext cx="6019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000" dirty="0"/>
              <a:t>Sursă</a:t>
            </a:r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6530340" y="1458123"/>
            <a:ext cx="8458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000" dirty="0"/>
              <a:t>Voltmetru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4377537" y="2163542"/>
            <a:ext cx="929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000" dirty="0"/>
              <a:t>Ampermetru</a:t>
            </a: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6687502" y="2936674"/>
            <a:ext cx="8458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LED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02" y="1338957"/>
            <a:ext cx="2392067" cy="31876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7668" y="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Rezultate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experimentale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–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analiza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graficului</a:t>
            </a:r>
            <a:endParaRPr lang="en-US" sz="3000" b="1" dirty="0">
              <a:solidFill>
                <a:schemeClr val="dk2"/>
              </a:solidFill>
              <a:latin typeface="IBM Plex Mono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969" y="811230"/>
            <a:ext cx="3680779" cy="27891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89" y="742557"/>
            <a:ext cx="3067478" cy="3067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4768" y="4004430"/>
            <a:ext cx="2758440" cy="380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Teoretic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88380" y="4030980"/>
            <a:ext cx="2461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Practic</a:t>
            </a:r>
            <a:endParaRPr lang="en-US" dirty="0"/>
          </a:p>
        </p:txBody>
      </p:sp>
      <p:sp>
        <p:nvSpPr>
          <p:cNvPr id="329" name="Rectangle 328"/>
          <p:cNvSpPr/>
          <p:nvPr/>
        </p:nvSpPr>
        <p:spPr>
          <a:xfrm>
            <a:off x="5511777" y="1278211"/>
            <a:ext cx="1973159" cy="8112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55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Din </a:t>
            </a:r>
            <a:r>
              <a:rPr lang="en-US" sz="1400" b="0" u="none" strike="noStrike" dirty="0" err="1">
                <a:solidFill>
                  <a:schemeClr val="accent3"/>
                </a:solidFill>
                <a:effectLst/>
                <a:uFillTx/>
                <a:latin typeface="IBM Plex Mono"/>
              </a:rPr>
              <a:t>grafic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se </a:t>
            </a:r>
            <a:r>
              <a:rPr lang="en-US" sz="1400" b="0" u="none" strike="noStrike" dirty="0" err="1">
                <a:solidFill>
                  <a:schemeClr val="accent3"/>
                </a:solidFill>
                <a:effectLst/>
                <a:uFillTx/>
                <a:latin typeface="IBM Plex Mono"/>
              </a:rPr>
              <a:t>observ</a:t>
            </a:r>
            <a:r>
              <a:rPr lang="ro-RO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ă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c</a:t>
            </a:r>
            <a:r>
              <a:rPr lang="ro-RO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ă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</a:t>
            </a:r>
            <a:r>
              <a:rPr lang="en-US" sz="1400" b="0" u="none" strike="noStrike" dirty="0" err="1">
                <a:solidFill>
                  <a:schemeClr val="accent3"/>
                </a:solidFill>
                <a:effectLst/>
                <a:uFillTx/>
                <a:latin typeface="IBM Plex Mono"/>
              </a:rPr>
              <a:t>dioda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</a:t>
            </a:r>
            <a:r>
              <a:rPr lang="en-US" sz="1400" b="0" u="none" strike="noStrike" dirty="0" err="1">
                <a:solidFill>
                  <a:schemeClr val="accent3"/>
                </a:solidFill>
                <a:effectLst/>
                <a:uFillTx/>
                <a:latin typeface="IBM Plex Mono"/>
              </a:rPr>
              <a:t>incepe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s</a:t>
            </a:r>
            <a:r>
              <a:rPr lang="ro-RO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ă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</a:t>
            </a:r>
            <a:r>
              <a:rPr lang="en-US" sz="1400" b="0" u="none" strike="noStrike" dirty="0" err="1">
                <a:solidFill>
                  <a:schemeClr val="accent3"/>
                </a:solidFill>
                <a:effectLst/>
                <a:uFillTx/>
                <a:latin typeface="IBM Plex Mono"/>
              </a:rPr>
              <a:t>conduc</a:t>
            </a:r>
            <a:r>
              <a:rPr lang="ro-RO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ă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din </a:t>
            </a:r>
            <a:r>
              <a:rPr lang="en-US" sz="1400" b="0" u="none" strike="noStrike" dirty="0" err="1">
                <a:solidFill>
                  <a:schemeClr val="accent3"/>
                </a:solidFill>
                <a:effectLst/>
                <a:uFillTx/>
                <a:latin typeface="IBM Plex Mono"/>
              </a:rPr>
              <a:t>momentul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</a:t>
            </a:r>
            <a:r>
              <a:rPr lang="ro-RO" sz="1400" dirty="0">
                <a:solidFill>
                  <a:schemeClr val="accent3"/>
                </a:solidFill>
                <a:latin typeface="IBM Plex Mono"/>
              </a:rPr>
              <a:t>î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n care </a:t>
            </a:r>
            <a:r>
              <a:rPr lang="en-US" sz="1400" b="0" u="none" strike="noStrike" dirty="0" err="1">
                <a:solidFill>
                  <a:schemeClr val="accent3"/>
                </a:solidFill>
                <a:effectLst/>
                <a:uFillTx/>
                <a:latin typeface="IBM Plex Mono"/>
              </a:rPr>
              <a:t>tensiunea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</a:t>
            </a:r>
            <a:r>
              <a:rPr lang="en-US" sz="1400" b="0" u="none" strike="noStrike" dirty="0" err="1">
                <a:solidFill>
                  <a:schemeClr val="accent3"/>
                </a:solidFill>
                <a:effectLst/>
                <a:uFillTx/>
                <a:latin typeface="IBM Plex Mono"/>
              </a:rPr>
              <a:t>atinge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</a:t>
            </a:r>
            <a:r>
              <a:rPr lang="en-US" sz="1400" b="0" u="none" strike="noStrike" dirty="0" err="1">
                <a:solidFill>
                  <a:schemeClr val="accent3"/>
                </a:solidFill>
                <a:effectLst/>
                <a:uFillTx/>
                <a:latin typeface="IBM Plex Mono"/>
              </a:rPr>
              <a:t>pragul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IBM Plex Mono"/>
              </a:rPr>
              <a:t> de 0.6V 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IBM Plex Mono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286500" y="2160061"/>
            <a:ext cx="535356" cy="55258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nip Diagonal Corner Rectangle 15"/>
          <p:cNvSpPr/>
          <p:nvPr/>
        </p:nvSpPr>
        <p:spPr>
          <a:xfrm>
            <a:off x="5455920" y="1278211"/>
            <a:ext cx="1958340" cy="811298"/>
          </a:xfrm>
          <a:prstGeom prst="snip2DiagRect">
            <a:avLst/>
          </a:prstGeom>
          <a:noFill/>
          <a:ln>
            <a:solidFill>
              <a:schemeClr val="accent3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454080" y="585787"/>
            <a:ext cx="4095559" cy="435768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63434" y="585787"/>
            <a:ext cx="4095559" cy="435768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329" grpId="0"/>
      <p:bldP spid="16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4811" y="271462"/>
            <a:ext cx="8617714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Rezultate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experimentale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–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analiza</a:t>
            </a:r>
            <a:r>
              <a:rPr lang="en-US" sz="3000" b="1" dirty="0">
                <a:solidFill>
                  <a:schemeClr val="dk2"/>
                </a:solidFill>
                <a:latin typeface="IBM Plex Mono"/>
              </a:rPr>
              <a:t> </a:t>
            </a:r>
            <a:r>
              <a:rPr lang="en-US" sz="3000" b="1" dirty="0" err="1">
                <a:solidFill>
                  <a:schemeClr val="dk2"/>
                </a:solidFill>
                <a:latin typeface="IBM Plex Mono"/>
              </a:rPr>
              <a:t>datelor</a:t>
            </a:r>
            <a:endParaRPr lang="en-US" sz="3000" b="1" dirty="0">
              <a:solidFill>
                <a:schemeClr val="dk2"/>
              </a:solidFill>
              <a:latin typeface="IBM Plex Mono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51" y="1021943"/>
            <a:ext cx="3215337" cy="38572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83" y="1407319"/>
            <a:ext cx="3391222" cy="289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16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Concluzii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IBM Plex Mono"/>
            </a:endParaRPr>
          </a:p>
        </p:txBody>
      </p:sp>
      <p:grpSp>
        <p:nvGrpSpPr>
          <p:cNvPr id="334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335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336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  <p:sp>
            <p:nvSpPr>
              <p:cNvPr id="337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</p:grpSp>
        <p:grpSp>
          <p:nvGrpSpPr>
            <p:cNvPr id="338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339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IBM Plex Mono"/>
                </a:endParaRPr>
              </a:p>
            </p:txBody>
          </p:sp>
          <p:cxnSp>
            <p:nvCxnSpPr>
              <p:cNvPr id="340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41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IBM Plex Mono"/>
                </a:endParaRPr>
              </a:p>
            </p:txBody>
          </p:sp>
        </p:grp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84" y="2263987"/>
            <a:ext cx="389659" cy="38965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3" y="1340888"/>
            <a:ext cx="389659" cy="38965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84" y="3241661"/>
            <a:ext cx="389659" cy="38965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45126" y="3126789"/>
            <a:ext cx="7606990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b="1" dirty="0" err="1">
                <a:latin typeface="IBM Plex Mono"/>
              </a:rPr>
              <a:t>Automatizarea</a:t>
            </a:r>
            <a:r>
              <a:rPr lang="en-US" b="1" dirty="0">
                <a:latin typeface="IBM Plex Mono"/>
              </a:rPr>
              <a:t> </a:t>
            </a:r>
            <a:r>
              <a:rPr lang="en-US" b="1" dirty="0" err="1">
                <a:latin typeface="IBM Plex Mono"/>
              </a:rPr>
              <a:t>măsurătorilor</a:t>
            </a:r>
            <a:r>
              <a:rPr lang="en-US" b="1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elimină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eroarea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umană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și</a:t>
            </a:r>
            <a:r>
              <a:rPr lang="en-US" dirty="0">
                <a:latin typeface="IBM Plex Mono"/>
              </a:rPr>
              <a:t> reduce </a:t>
            </a:r>
            <a:r>
              <a:rPr lang="en-US" dirty="0" err="1">
                <a:latin typeface="IBM Plex Mono"/>
              </a:rPr>
              <a:t>semnificativ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timpul</a:t>
            </a:r>
            <a:r>
              <a:rPr lang="en-US" dirty="0">
                <a:latin typeface="IBM Plex Mono"/>
              </a:rPr>
              <a:t> de </a:t>
            </a:r>
            <a:r>
              <a:rPr lang="en-US" dirty="0" err="1">
                <a:latin typeface="IBM Plex Mono"/>
              </a:rPr>
              <a:t>testare</a:t>
            </a:r>
            <a:r>
              <a:rPr lang="en-US" dirty="0">
                <a:latin typeface="IBM Plex Mono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845126" y="1221901"/>
            <a:ext cx="7342909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b="1" dirty="0" err="1">
                <a:latin typeface="IBM Plex Mono"/>
              </a:rPr>
              <a:t>Sistemul</a:t>
            </a:r>
            <a:r>
              <a:rPr lang="en-US" b="1" dirty="0">
                <a:latin typeface="IBM Plex Mono"/>
              </a:rPr>
              <a:t> ATE </a:t>
            </a:r>
            <a:r>
              <a:rPr lang="en-US" dirty="0" err="1">
                <a:latin typeface="IBM Plex Mono"/>
              </a:rPr>
              <a:t>dezvoltat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este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versatil</a:t>
            </a:r>
            <a:r>
              <a:rPr lang="en-US" dirty="0">
                <a:latin typeface="IBM Plex Mono"/>
              </a:rPr>
              <a:t>, </a:t>
            </a:r>
            <a:r>
              <a:rPr lang="en-US" dirty="0" err="1">
                <a:latin typeface="IBM Plex Mono"/>
              </a:rPr>
              <a:t>fiind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util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atât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în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laboratoare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didactice</a:t>
            </a:r>
            <a:r>
              <a:rPr lang="en-US" dirty="0">
                <a:latin typeface="IBM Plex Mono"/>
              </a:rPr>
              <a:t>, </a:t>
            </a:r>
            <a:r>
              <a:rPr lang="en-US" dirty="0" err="1">
                <a:latin typeface="IBM Plex Mono"/>
              </a:rPr>
              <a:t>cât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și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în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controlul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calității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industriale</a:t>
            </a:r>
            <a:r>
              <a:rPr lang="en-US" dirty="0">
                <a:latin typeface="IBM Plex Mono"/>
              </a:rPr>
              <a:t>.</a:t>
            </a:r>
            <a:endParaRPr lang="en-US" dirty="0">
              <a:solidFill>
                <a:srgbClr val="000000"/>
              </a:solidFill>
              <a:latin typeface="IBM Plex Mon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5126" y="2160743"/>
            <a:ext cx="7689273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b="1" dirty="0" err="1">
                <a:latin typeface="IBM Plex Mono"/>
              </a:rPr>
              <a:t>Procesarea</a:t>
            </a:r>
            <a:r>
              <a:rPr lang="en-US" b="1" dirty="0">
                <a:latin typeface="IBM Plex Mono"/>
              </a:rPr>
              <a:t> </a:t>
            </a:r>
            <a:r>
              <a:rPr lang="en-US" b="1" dirty="0" err="1">
                <a:latin typeface="IBM Plex Mono"/>
              </a:rPr>
              <a:t>asincronă</a:t>
            </a:r>
            <a:r>
              <a:rPr lang="en-US" b="1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menține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interfața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fluidă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și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receptivă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în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timpul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achiziției</a:t>
            </a:r>
            <a:r>
              <a:rPr lang="en-US" dirty="0">
                <a:latin typeface="IBM Plex Mono"/>
              </a:rPr>
              <a:t> de date.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03960" y="364320"/>
            <a:ext cx="399340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 err="1">
                <a:solidFill>
                  <a:schemeClr val="dk2"/>
                </a:solidFill>
                <a:latin typeface="IBM Plex Mono"/>
                <a:ea typeface="IBM Plex Mono"/>
              </a:rPr>
              <a:t>Probleme</a:t>
            </a:r>
            <a:r>
              <a:rPr lang="en-US" sz="2700" b="1" dirty="0">
                <a:solidFill>
                  <a:schemeClr val="dk2"/>
                </a:solidFill>
                <a:latin typeface="IBM Plex Mono"/>
                <a:ea typeface="IBM Plex Mono"/>
              </a:rPr>
              <a:t> </a:t>
            </a:r>
            <a:r>
              <a:rPr lang="en-US" sz="2700" b="1" dirty="0" err="1">
                <a:solidFill>
                  <a:schemeClr val="dk2"/>
                </a:solidFill>
                <a:latin typeface="IBM Plex Mono"/>
                <a:ea typeface="IBM Plex Mono"/>
              </a:rPr>
              <a:t>Întâmpinate</a:t>
            </a:r>
            <a:r>
              <a:rPr lang="en-US" sz="2700" b="1" dirty="0">
                <a:solidFill>
                  <a:schemeClr val="dk2"/>
                </a:solidFill>
                <a:latin typeface="IBM Plex Mono"/>
                <a:ea typeface="IBM Plex Mono"/>
              </a:rPr>
              <a:t> </a:t>
            </a:r>
            <a:endParaRPr lang="en-US" sz="2700" dirty="0">
              <a:latin typeface="IBM Plex Mon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5855" y="1274617"/>
            <a:ext cx="7675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IBM Plex Mono"/>
              </a:rPr>
              <a:t>Limitarea</a:t>
            </a:r>
            <a:r>
              <a:rPr lang="en-US" b="1" dirty="0">
                <a:latin typeface="IBM Plex Mono"/>
              </a:rPr>
              <a:t> </a:t>
            </a:r>
            <a:r>
              <a:rPr lang="en-US" b="1" dirty="0" err="1">
                <a:latin typeface="IBM Plex Mono"/>
              </a:rPr>
              <a:t>topologiei</a:t>
            </a:r>
            <a:r>
              <a:rPr lang="en-US" b="1" dirty="0">
                <a:latin typeface="IBM Plex Mono"/>
              </a:rPr>
              <a:t> </a:t>
            </a:r>
            <a:r>
              <a:rPr lang="en-US" b="1" dirty="0" err="1">
                <a:latin typeface="IBM Plex Mono"/>
              </a:rPr>
              <a:t>pe</a:t>
            </a:r>
            <a:r>
              <a:rPr lang="en-US" b="1" dirty="0">
                <a:latin typeface="IBM Plex Mono"/>
              </a:rPr>
              <a:t> 2 fire: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Distorsionarea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curbei</a:t>
            </a:r>
            <a:r>
              <a:rPr lang="en-US" dirty="0">
                <a:latin typeface="IBM Plex Mono"/>
              </a:rPr>
              <a:t> I-V la </a:t>
            </a:r>
            <a:r>
              <a:rPr lang="en-US" dirty="0" err="1">
                <a:latin typeface="IBM Plex Mono"/>
              </a:rPr>
              <a:t>curenți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mari</a:t>
            </a:r>
            <a:r>
              <a:rPr lang="en-US" dirty="0">
                <a:latin typeface="IBM Plex Mono"/>
              </a:rPr>
              <a:t> din </a:t>
            </a:r>
            <a:r>
              <a:rPr lang="en-US" dirty="0" err="1">
                <a:latin typeface="IBM Plex Mono"/>
              </a:rPr>
              <a:t>cauza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rezistențelor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parazite</a:t>
            </a:r>
            <a:r>
              <a:rPr lang="en-US" dirty="0">
                <a:latin typeface="IBM Plex Mono"/>
              </a:rPr>
              <a:t> ale </a:t>
            </a:r>
            <a:r>
              <a:rPr lang="en-US" dirty="0" err="1">
                <a:latin typeface="IBM Plex Mono"/>
              </a:rPr>
              <a:t>cablurilor</a:t>
            </a:r>
            <a:r>
              <a:rPr lang="en-US" dirty="0">
                <a:latin typeface="IBM Plex Mono"/>
              </a:rPr>
              <a:t> </a:t>
            </a:r>
            <a:r>
              <a:rPr lang="ro-RO" dirty="0">
                <a:latin typeface="IBM Plex Mono"/>
              </a:rPr>
              <a:t>și a șuntului ampermetrului.</a:t>
            </a:r>
            <a:endParaRPr lang="en-US" dirty="0">
              <a:latin typeface="IBM Plex Mono"/>
            </a:endParaRPr>
          </a:p>
          <a:p>
            <a:endParaRPr lang="en-US" dirty="0">
              <a:latin typeface="IBM Plex Mon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5855" y="2298029"/>
            <a:ext cx="76754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IBM Plex Mono"/>
              </a:rPr>
              <a:t>Erori</a:t>
            </a:r>
            <a:r>
              <a:rPr lang="en-US" b="1" dirty="0">
                <a:latin typeface="IBM Plex Mono"/>
              </a:rPr>
              <a:t> de timeout: </a:t>
            </a:r>
            <a:r>
              <a:rPr lang="en-US" dirty="0" err="1">
                <a:latin typeface="IBM Plex Mono"/>
              </a:rPr>
              <a:t>Implementarea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funcției</a:t>
            </a:r>
            <a:r>
              <a:rPr lang="en-US" dirty="0">
                <a:latin typeface="IBM Plex Mono"/>
              </a:rPr>
              <a:t> Safety Turn-Off </a:t>
            </a:r>
            <a:r>
              <a:rPr lang="en-US" dirty="0" err="1">
                <a:latin typeface="IBM Plex Mono"/>
              </a:rPr>
              <a:t>pentru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protejarea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componentelor</a:t>
            </a:r>
            <a:r>
              <a:rPr lang="en-US" dirty="0">
                <a:latin typeface="IBM Plex Mono"/>
              </a:rPr>
              <a:t> la </a:t>
            </a:r>
            <a:r>
              <a:rPr lang="en-US" dirty="0" err="1">
                <a:latin typeface="IBM Plex Mono"/>
              </a:rPr>
              <a:t>deconectări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neașteptate</a:t>
            </a:r>
            <a:r>
              <a:rPr lang="en-US" dirty="0">
                <a:latin typeface="IBM Plex Mono"/>
              </a:rPr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01" y="1274617"/>
            <a:ext cx="389659" cy="3896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01" y="2268541"/>
            <a:ext cx="389659" cy="38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71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03960" y="364320"/>
            <a:ext cx="271753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 err="1">
                <a:solidFill>
                  <a:schemeClr val="dk2"/>
                </a:solidFill>
                <a:latin typeface="IBM Plex Mono"/>
                <a:ea typeface="IBM Plex Mono"/>
              </a:rPr>
              <a:t>Direcții</a:t>
            </a:r>
            <a:r>
              <a:rPr lang="en-US" sz="2700" b="1" dirty="0">
                <a:solidFill>
                  <a:schemeClr val="dk2"/>
                </a:solidFill>
                <a:latin typeface="IBM Plex Mono"/>
                <a:ea typeface="IBM Plex Mono"/>
              </a:rPr>
              <a:t> </a:t>
            </a:r>
            <a:r>
              <a:rPr lang="en-US" sz="2700" b="1" dirty="0" err="1">
                <a:solidFill>
                  <a:schemeClr val="dk2"/>
                </a:solidFill>
                <a:latin typeface="IBM Plex Mono"/>
                <a:ea typeface="IBM Plex Mono"/>
              </a:rPr>
              <a:t>Viitoare</a:t>
            </a:r>
            <a:endParaRPr lang="en-US" sz="2700" dirty="0">
              <a:latin typeface="IBM Plex Mon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4068" y="1478241"/>
            <a:ext cx="7550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IBM Plex Mono"/>
              </a:rPr>
              <a:t>Extinderea</a:t>
            </a:r>
            <a:r>
              <a:rPr lang="en-US" b="1" dirty="0">
                <a:latin typeface="IBM Plex Mono"/>
              </a:rPr>
              <a:t> </a:t>
            </a:r>
            <a:r>
              <a:rPr lang="en-US" b="1" dirty="0" err="1">
                <a:latin typeface="IBM Plex Mono"/>
              </a:rPr>
              <a:t>suportului</a:t>
            </a:r>
            <a:r>
              <a:rPr lang="en-US" b="1" dirty="0">
                <a:latin typeface="IBM Plex Mono"/>
              </a:rPr>
              <a:t> hardware: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Adaptarea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sistemului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pentru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testarea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tranzistoarelor</a:t>
            </a:r>
            <a:r>
              <a:rPr lang="en-US" dirty="0">
                <a:latin typeface="IBM Plex Mono"/>
              </a:rPr>
              <a:t> (BJT, MOSFET).</a:t>
            </a:r>
          </a:p>
          <a:p>
            <a:endParaRPr lang="en-US" dirty="0">
              <a:latin typeface="IBM Plex Mono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84068" y="2813743"/>
            <a:ext cx="75507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IBM Plex Mono"/>
              </a:rPr>
              <a:t>Integrarea</a:t>
            </a:r>
            <a:r>
              <a:rPr lang="en-US" b="1" dirty="0">
                <a:latin typeface="IBM Plex Mono"/>
              </a:rPr>
              <a:t> </a:t>
            </a:r>
            <a:r>
              <a:rPr lang="en-US" b="1" dirty="0" err="1">
                <a:latin typeface="IBM Plex Mono"/>
              </a:rPr>
              <a:t>unui</a:t>
            </a:r>
            <a:r>
              <a:rPr lang="en-US" b="1" dirty="0">
                <a:latin typeface="IBM Plex Mono"/>
              </a:rPr>
              <a:t> multiplexor (Switch Matrix):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Automatizarea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testării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unui</a:t>
            </a:r>
            <a:r>
              <a:rPr lang="en-US" dirty="0">
                <a:latin typeface="IBM Plex Mono"/>
              </a:rPr>
              <a:t> lot </a:t>
            </a:r>
            <a:r>
              <a:rPr lang="en-US" dirty="0" err="1">
                <a:latin typeface="IBM Plex Mono"/>
              </a:rPr>
              <a:t>întreg</a:t>
            </a:r>
            <a:r>
              <a:rPr lang="en-US" dirty="0">
                <a:latin typeface="IBM Plex Mono"/>
              </a:rPr>
              <a:t> de </a:t>
            </a:r>
            <a:r>
              <a:rPr lang="en-US" dirty="0" err="1">
                <a:latin typeface="IBM Plex Mono"/>
              </a:rPr>
              <a:t>componente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fără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reconectare</a:t>
            </a:r>
            <a:r>
              <a:rPr lang="en-US" dirty="0">
                <a:latin typeface="IBM Plex Mono"/>
              </a:rPr>
              <a:t> </a:t>
            </a:r>
            <a:r>
              <a:rPr lang="en-US" dirty="0" err="1">
                <a:latin typeface="IBM Plex Mono"/>
              </a:rPr>
              <a:t>manuală</a:t>
            </a:r>
            <a:r>
              <a:rPr lang="en-US" dirty="0">
                <a:latin typeface="IBM Plex Mono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28" y="1478241"/>
            <a:ext cx="389659" cy="3896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83" y="2848379"/>
            <a:ext cx="389659" cy="38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214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98355" y="238708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83086" y="2248584"/>
            <a:ext cx="5862502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solidFill>
                  <a:schemeClr val="dk2"/>
                </a:solidFill>
                <a:latin typeface="IBM Plex Mono"/>
                <a:ea typeface="IBM Plex Mono"/>
              </a:rPr>
              <a:t>Vă mulțumesc pentru atenția acordată!</a:t>
            </a:r>
          </a:p>
          <a:p>
            <a:r>
              <a:rPr lang="pt-BR" sz="2400" b="1" dirty="0">
                <a:solidFill>
                  <a:schemeClr val="dk2"/>
                </a:solidFill>
                <a:latin typeface="IBM Plex Mono"/>
                <a:ea typeface="IBM Plex Mono"/>
              </a:rPr>
              <a:t>	</a:t>
            </a:r>
          </a:p>
          <a:p>
            <a:endParaRPr lang="pt-BR" sz="2400" b="1" dirty="0">
              <a:solidFill>
                <a:schemeClr val="dk2"/>
              </a:solidFill>
              <a:latin typeface="IBM Plex Mono"/>
              <a:ea typeface="IBM Plex Mono"/>
            </a:endParaRP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27" y="937051"/>
            <a:ext cx="2623066" cy="2623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16808" y="3081998"/>
            <a:ext cx="3995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chemeClr val="bg2"/>
                </a:solidFill>
                <a:latin typeface="IBM Plex Mono"/>
              </a:rPr>
              <a:t>Î</a:t>
            </a:r>
            <a:r>
              <a:rPr lang="en-US" b="1" dirty="0" err="1">
                <a:solidFill>
                  <a:schemeClr val="bg2"/>
                </a:solidFill>
                <a:latin typeface="IBM Plex Mono"/>
              </a:rPr>
              <a:t>ntreb</a:t>
            </a:r>
            <a:r>
              <a:rPr lang="ro-RO" b="1" dirty="0">
                <a:solidFill>
                  <a:schemeClr val="bg2"/>
                </a:solidFill>
                <a:latin typeface="IBM Plex Mono"/>
              </a:rPr>
              <a:t>ă</a:t>
            </a:r>
            <a:r>
              <a:rPr lang="en-US" b="1" dirty="0" err="1">
                <a:solidFill>
                  <a:schemeClr val="bg2"/>
                </a:solidFill>
                <a:latin typeface="IBM Plex Mono"/>
              </a:rPr>
              <a:t>ri</a:t>
            </a:r>
            <a:r>
              <a:rPr lang="en-US" b="1" dirty="0">
                <a:solidFill>
                  <a:schemeClr val="bg2"/>
                </a:solidFill>
                <a:latin typeface="IBM Plex Mono"/>
              </a:rPr>
              <a:t> ??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658" y="3047589"/>
            <a:ext cx="4381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4221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1879</TotalTime>
  <Words>802</Words>
  <Application>Microsoft Office PowerPoint</Application>
  <PresentationFormat>On-screen Show (16:9)</PresentationFormat>
  <Paragraphs>138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Calibri</vt:lpstr>
      <vt:lpstr>Cambria Math</vt:lpstr>
      <vt:lpstr>IBM Plex Mono</vt:lpstr>
      <vt:lpstr>OpenSymbol</vt:lpstr>
      <vt:lpstr>Play</vt:lpstr>
      <vt:lpstr>Symbol</vt:lpstr>
      <vt:lpstr>Wingdings</vt:lpstr>
      <vt:lpstr>Introduction to Coding Workshop by Slidesgo</vt:lpstr>
      <vt:lpstr>Introduction to Coding Workshop by Slidesgo</vt:lpstr>
      <vt:lpstr>Introduction to Coding Workshop by Slidesgo</vt:lpstr>
      <vt:lpstr>Lucrare de licentă</vt:lpstr>
      <vt:lpstr>PowerPoint Presentation</vt:lpstr>
      <vt:lpstr>Introducere</vt:lpstr>
      <vt:lpstr>Introducere</vt:lpstr>
      <vt:lpstr>PowerPoint Presentation</vt:lpstr>
      <vt:lpstr>Arhitectura sistemului</vt:lpstr>
      <vt:lpstr>Arhitectura sistemului</vt:lpstr>
      <vt:lpstr>Arhitectura sistemului</vt:lpstr>
      <vt:lpstr>Comunicarea</vt:lpstr>
      <vt:lpstr>PowerPoint Presentation</vt:lpstr>
      <vt:lpstr>PowerPoint Presentation</vt:lpstr>
      <vt:lpstr>PowerPoint Presentation</vt:lpstr>
      <vt:lpstr>Conectarea la echipamente</vt:lpstr>
      <vt:lpstr>PowerPoint Presentation</vt:lpstr>
      <vt:lpstr>PowerPoint Presentation</vt:lpstr>
      <vt:lpstr>PowerPoint Presentation</vt:lpstr>
      <vt:lpstr>Export date și generare raport </vt:lpstr>
      <vt:lpstr>PowerPoint Presentation</vt:lpstr>
      <vt:lpstr>PowerPoint Presentation</vt:lpstr>
      <vt:lpstr>PowerPoint Presentation</vt:lpstr>
      <vt:lpstr>Concluzii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 de licenta</dc:title>
  <dc:creator>Andrei .</dc:creator>
  <cp:lastModifiedBy>Andrei Deaconu</cp:lastModifiedBy>
  <cp:revision>126</cp:revision>
  <dcterms:modified xsi:type="dcterms:W3CDTF">2026-06-03T07:26:36Z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2026-05-03T11:24:45Z</dcterms:created>
  <dc:creator>Unknown Creator</dc:creator>
  <dc:description/>
  <dc:language>en-US</dc:language>
  <cp:lastModifiedBy>Unknown Creator</cp:lastModifiedBy>
  <dcterms:modified xsi:type="dcterms:W3CDTF">2026-05-03T11:24:45Z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